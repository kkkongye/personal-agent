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5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69" r:id="rId2"/>
    <p:sldId id="259" r:id="rId3"/>
    <p:sldId id="270" r:id="rId4"/>
    <p:sldId id="263" r:id="rId5"/>
    <p:sldId id="260" r:id="rId6"/>
    <p:sldId id="261" r:id="rId7"/>
    <p:sldId id="267" r:id="rId8"/>
    <p:sldId id="262" r:id="rId9"/>
    <p:sldId id="264" r:id="rId10"/>
    <p:sldId id="271" r:id="rId11"/>
    <p:sldId id="265" r:id="rId12"/>
    <p:sldId id="273" r:id="rId13"/>
    <p:sldId id="277" r:id="rId14"/>
    <p:sldId id="272" r:id="rId15"/>
    <p:sldId id="266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3" userDrawn="1">
          <p15:clr>
            <a:srgbClr val="A4A3A4"/>
          </p15:clr>
        </p15:guide>
        <p15:guide id="2" pos="386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65" d="100"/>
          <a:sy n="65" d="100"/>
        </p:scale>
        <p:origin x="80" y="620"/>
      </p:cViewPr>
      <p:guideLst>
        <p:guide orient="horz" pos="2223"/>
        <p:guide pos="386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2025/11/16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13" Type="http://schemas.openxmlformats.org/officeDocument/2006/relationships/tags" Target="../tags/tag75.xml"/><Relationship Id="rId18" Type="http://schemas.openxmlformats.org/officeDocument/2006/relationships/notesSlide" Target="../notesSlides/notesSlide5.xml"/><Relationship Id="rId3" Type="http://schemas.openxmlformats.org/officeDocument/2006/relationships/tags" Target="../tags/tag65.xml"/><Relationship Id="rId21" Type="http://schemas.openxmlformats.org/officeDocument/2006/relationships/image" Target="../media/image3.png"/><Relationship Id="rId7" Type="http://schemas.openxmlformats.org/officeDocument/2006/relationships/tags" Target="../tags/tag69.xml"/><Relationship Id="rId12" Type="http://schemas.openxmlformats.org/officeDocument/2006/relationships/tags" Target="../tags/tag74.xml"/><Relationship Id="rId17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6" Type="http://schemas.openxmlformats.org/officeDocument/2006/relationships/tags" Target="../tags/tag78.xml"/><Relationship Id="rId20" Type="http://schemas.openxmlformats.org/officeDocument/2006/relationships/image" Target="../media/image2.png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tags" Target="../tags/tag73.xml"/><Relationship Id="rId5" Type="http://schemas.openxmlformats.org/officeDocument/2006/relationships/tags" Target="../tags/tag67.xml"/><Relationship Id="rId15" Type="http://schemas.openxmlformats.org/officeDocument/2006/relationships/tags" Target="../tags/tag77.xml"/><Relationship Id="rId10" Type="http://schemas.openxmlformats.org/officeDocument/2006/relationships/tags" Target="../tags/tag72.xml"/><Relationship Id="rId19" Type="http://schemas.openxmlformats.org/officeDocument/2006/relationships/image" Target="../media/image1.png"/><Relationship Id="rId4" Type="http://schemas.openxmlformats.org/officeDocument/2006/relationships/tags" Target="../tags/tag66.xml"/><Relationship Id="rId9" Type="http://schemas.openxmlformats.org/officeDocument/2006/relationships/tags" Target="../tags/tag71.xml"/><Relationship Id="rId14" Type="http://schemas.openxmlformats.org/officeDocument/2006/relationships/tags" Target="../tags/tag76.xml"/><Relationship Id="rId2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6.xml"/><Relationship Id="rId13" Type="http://schemas.openxmlformats.org/officeDocument/2006/relationships/tags" Target="../tags/tag91.xml"/><Relationship Id="rId18" Type="http://schemas.openxmlformats.org/officeDocument/2006/relationships/slideLayout" Target="../slideLayouts/slideLayout1.xml"/><Relationship Id="rId3" Type="http://schemas.openxmlformats.org/officeDocument/2006/relationships/tags" Target="../tags/tag81.xml"/><Relationship Id="rId21" Type="http://schemas.openxmlformats.org/officeDocument/2006/relationships/image" Target="../media/image2.png"/><Relationship Id="rId7" Type="http://schemas.openxmlformats.org/officeDocument/2006/relationships/tags" Target="../tags/tag85.xml"/><Relationship Id="rId12" Type="http://schemas.openxmlformats.org/officeDocument/2006/relationships/tags" Target="../tags/tag90.xml"/><Relationship Id="rId17" Type="http://schemas.openxmlformats.org/officeDocument/2006/relationships/tags" Target="../tags/tag95.xml"/><Relationship Id="rId2" Type="http://schemas.openxmlformats.org/officeDocument/2006/relationships/tags" Target="../tags/tag80.xml"/><Relationship Id="rId16" Type="http://schemas.openxmlformats.org/officeDocument/2006/relationships/tags" Target="../tags/tag94.xml"/><Relationship Id="rId20" Type="http://schemas.openxmlformats.org/officeDocument/2006/relationships/image" Target="../media/image1.png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11" Type="http://schemas.openxmlformats.org/officeDocument/2006/relationships/tags" Target="../tags/tag89.xml"/><Relationship Id="rId5" Type="http://schemas.openxmlformats.org/officeDocument/2006/relationships/tags" Target="../tags/tag83.xml"/><Relationship Id="rId15" Type="http://schemas.openxmlformats.org/officeDocument/2006/relationships/tags" Target="../tags/tag93.xml"/><Relationship Id="rId23" Type="http://schemas.openxmlformats.org/officeDocument/2006/relationships/image" Target="../media/image4.png"/><Relationship Id="rId10" Type="http://schemas.openxmlformats.org/officeDocument/2006/relationships/tags" Target="../tags/tag88.xml"/><Relationship Id="rId19" Type="http://schemas.openxmlformats.org/officeDocument/2006/relationships/notesSlide" Target="../notesSlides/notesSlide6.xml"/><Relationship Id="rId4" Type="http://schemas.openxmlformats.org/officeDocument/2006/relationships/tags" Target="../tags/tag82.xml"/><Relationship Id="rId9" Type="http://schemas.openxmlformats.org/officeDocument/2006/relationships/tags" Target="../tags/tag87.xml"/><Relationship Id="rId14" Type="http://schemas.openxmlformats.org/officeDocument/2006/relationships/tags" Target="../tags/tag92.xml"/><Relationship Id="rId22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oleObject" Target="../embeddings/oleObject7.bin"/><Relationship Id="rId18" Type="http://schemas.openxmlformats.org/officeDocument/2006/relationships/image" Target="../media/image13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10.wmf"/><Relationship Id="rId17" Type="http://schemas.openxmlformats.org/officeDocument/2006/relationships/oleObject" Target="../embeddings/oleObject9.bin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2.w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5" Type="http://schemas.openxmlformats.org/officeDocument/2006/relationships/oleObject" Target="../embeddings/oleObject8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11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oleObject" Target="../embeddings/oleObject15.bin"/><Relationship Id="rId18" Type="http://schemas.openxmlformats.org/officeDocument/2006/relationships/image" Target="../media/image21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18.wmf"/><Relationship Id="rId17" Type="http://schemas.openxmlformats.org/officeDocument/2006/relationships/oleObject" Target="../embeddings/oleObject17.bin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0.w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6.bin"/><Relationship Id="rId10" Type="http://schemas.openxmlformats.org/officeDocument/2006/relationships/image" Target="../media/image17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19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25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1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oleObject" Target="../embeddings/oleObject27.bin"/><Relationship Id="rId18" Type="http://schemas.openxmlformats.org/officeDocument/2006/relationships/image" Target="../media/image31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30.wmf"/><Relationship Id="rId17" Type="http://schemas.openxmlformats.org/officeDocument/2006/relationships/oleObject" Target="../embeddings/oleObject29.bin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8.w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5" Type="http://schemas.openxmlformats.org/officeDocument/2006/relationships/oleObject" Target="../embeddings/oleObject28.bin"/><Relationship Id="rId10" Type="http://schemas.openxmlformats.org/officeDocument/2006/relationships/image" Target="../media/image29.wmf"/><Relationship Id="rId4" Type="http://schemas.openxmlformats.org/officeDocument/2006/relationships/image" Target="../media/image26.w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17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35.bin"/><Relationship Id="rId18" Type="http://schemas.openxmlformats.org/officeDocument/2006/relationships/image" Target="../media/image39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36.wmf"/><Relationship Id="rId17" Type="http://schemas.openxmlformats.org/officeDocument/2006/relationships/oleObject" Target="../embeddings/oleObject37.bin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38.w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34.bin"/><Relationship Id="rId5" Type="http://schemas.openxmlformats.org/officeDocument/2006/relationships/oleObject" Target="../embeddings/oleObject31.bin"/><Relationship Id="rId15" Type="http://schemas.openxmlformats.org/officeDocument/2006/relationships/oleObject" Target="../embeddings/oleObject36.bin"/><Relationship Id="rId10" Type="http://schemas.openxmlformats.org/officeDocument/2006/relationships/image" Target="../media/image35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37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44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42.bin"/><Relationship Id="rId5" Type="http://schemas.openxmlformats.org/officeDocument/2006/relationships/oleObject" Target="../embeddings/oleObject39.bin"/><Relationship Id="rId10" Type="http://schemas.openxmlformats.org/officeDocument/2006/relationships/image" Target="../media/image43.wmf"/><Relationship Id="rId4" Type="http://schemas.openxmlformats.org/officeDocument/2006/relationships/image" Target="../media/image40.wmf"/><Relationship Id="rId9" Type="http://schemas.openxmlformats.org/officeDocument/2006/relationships/oleObject" Target="../embeddings/oleObject4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"/>
            <a:ext cx="1598613" cy="57150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644650" y="1"/>
            <a:ext cx="358775" cy="5715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38350" y="-50800"/>
            <a:ext cx="234950" cy="61153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-49213" y="571501"/>
            <a:ext cx="12290425" cy="0"/>
          </a:xfrm>
          <a:prstGeom prst="line">
            <a:avLst/>
          </a:prstGeom>
          <a:ln w="38100" cmpd="sng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0" y="622300"/>
            <a:ext cx="11746865" cy="632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MCP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Model Context Protocol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457200">
              <a:lnSpc>
                <a:spcPct val="15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MCP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主要关注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LLM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模型与工具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资源的集成，对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Agent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身份本身没有直接定义。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服务的核心对象是模型本身而非用户个体，它仅解决模型安全调用外部资源问题，而不关注模型代表特定用户进行可信交互的问题。</a:t>
            </a:r>
          </a:p>
          <a:p>
            <a:pPr lvl="1">
              <a:lnSpc>
                <a:spcPct val="150000"/>
              </a:lnSpc>
            </a:pPr>
            <a:endParaRPr lang="en-US" altLang="zh-CN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A2A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Agent-to-Agent Protocol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457200">
              <a:lnSpc>
                <a:spcPct val="15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A2A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适用于企业内部的智能体通信，关注点集中于任务逻辑与工作流层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并未建立独立的身份层。因此，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A2A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与个人用户的关联度极低，它既不考虑自然人的身份表达，也不涉及个人数据或自我主权身份（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SSI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）的实现。</a:t>
            </a:r>
          </a:p>
          <a:p>
            <a:pPr lvl="1" indent="457200">
              <a:lnSpc>
                <a:spcPct val="150000"/>
              </a:lnSpc>
            </a:pP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 ANP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Agent Network Protocol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457200">
              <a:lnSpc>
                <a:spcPct val="15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ANP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提出要在去中心化的智能体网络中，实现每个智能体的点对点的通信。并且提倡每个个人用户可以拥有一个个人智能体，智能体可以自主生成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DID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did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公私钥对，从而实现身份验证和信任建立；但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DID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仅代表智能体自身的身份，并未建立自然人与智能体的可验证绑定。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50000"/>
              </a:lnSpc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461260" y="60325"/>
            <a:ext cx="93332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ANP,A2A,MCP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的身份构建分析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"/>
            <a:ext cx="1598613" cy="57150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644650" y="1"/>
            <a:ext cx="358775" cy="5715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38350" y="-50800"/>
            <a:ext cx="234950" cy="61153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-49213" y="571501"/>
            <a:ext cx="12290425" cy="0"/>
          </a:xfrm>
          <a:prstGeom prst="line">
            <a:avLst/>
          </a:prstGeom>
          <a:ln w="38100" cmpd="sng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339975" y="88900"/>
            <a:ext cx="46278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did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方法应用现状分析</a:t>
            </a:r>
          </a:p>
        </p:txBody>
      </p:sp>
      <p:cxnSp>
        <p:nvCxnSpPr>
          <p:cNvPr id="25" name="直接箭头连接符 24"/>
          <p:cNvCxnSpPr/>
          <p:nvPr/>
        </p:nvCxnSpPr>
        <p:spPr>
          <a:xfrm>
            <a:off x="2987040" y="6858000"/>
            <a:ext cx="2829560" cy="27495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H="1">
            <a:off x="4017010" y="7684135"/>
            <a:ext cx="635" cy="21717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6649720" y="8616950"/>
            <a:ext cx="108775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7）Bind</a:t>
            </a:r>
            <a:endParaRPr lang="en-US" altLang="zh-CN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 rot="2760000">
            <a:off x="-1501775" y="9074150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8）Reveal  identity when necessary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33375" y="626110"/>
            <a:ext cx="11289665" cy="5908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did:key</a:t>
            </a:r>
          </a:p>
          <a:p>
            <a:pPr indent="457200">
              <a:lnSpc>
                <a:spcPct val="150000"/>
              </a:lnSpc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欧洲区块链服务基础设施采用了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did:key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方法，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DID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由用户自主生成，完全由用户控制私钥，方法简单。缺乏原生绑定，依赖可信第三方颁发的可验证凭证（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VC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来关联现实身份。适合强调完全自治的个人智能体，但在执行可监管任务或跨域协作时难以保证可信度。</a:t>
            </a:r>
          </a:p>
          <a:p>
            <a:pPr indent="457200">
              <a:lnSpc>
                <a:spcPct val="150000"/>
              </a:lnSpc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BSN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实名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did</a:t>
            </a:r>
          </a:p>
          <a:p>
            <a:pPr indent="457200">
              <a:lnSpc>
                <a:spcPct val="150000"/>
              </a:lnSpc>
            </a:pPr>
            <a:r>
              <a:rPr lang="zh-CN" altLang="en-US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强实名认证，与权威身份信息（如</a:t>
            </a:r>
            <a:r>
              <a:rPr lang="en-US" altLang="zh-CN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CTID</a:t>
            </a:r>
            <a:r>
              <a:rPr lang="zh-CN" altLang="en-US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）绑定，支持行为监管。在</a:t>
            </a:r>
            <a:r>
              <a:rPr lang="en-US" altLang="zh-CN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DID</a:t>
            </a:r>
            <a:r>
              <a:rPr lang="zh-CN" altLang="en-US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创建时即完成与权威身份源的全局强绑定。但仍然隐私泄露问题以及</a:t>
            </a:r>
            <a:r>
              <a:rPr lang="en-US" altLang="zh-CN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did</a:t>
            </a:r>
            <a:r>
              <a:rPr lang="zh-CN" altLang="en-US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主权削弱问题。</a:t>
            </a:r>
          </a:p>
          <a:p>
            <a:pPr indent="457200">
              <a:lnSpc>
                <a:spcPct val="150000"/>
              </a:lnSpc>
            </a:pPr>
            <a:endParaRPr lang="zh-CN" altLang="en-US">
              <a:solidFill>
                <a:srgbClr val="3D41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b="1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DID</a:t>
            </a:r>
            <a:r>
              <a:rPr lang="zh-CN" altLang="en-US" b="1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b="1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webvh</a:t>
            </a:r>
          </a:p>
          <a:p>
            <a:pPr indent="457200">
              <a:lnSpc>
                <a:spcPct val="150000"/>
              </a:lnSpc>
            </a:pPr>
            <a:r>
              <a:rPr lang="zh-CN" altLang="en-US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瑞士联邦的电子身份信任基础设施拟计划采用</a:t>
            </a:r>
            <a:r>
              <a:rPr lang="en-US" altLang="zh-CN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did:webvh</a:t>
            </a:r>
            <a:r>
              <a:rPr lang="zh-CN" altLang="en-US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作为其</a:t>
            </a:r>
            <a:r>
              <a:rPr lang="en-US" altLang="zh-CN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DID </a:t>
            </a:r>
            <a:r>
              <a:rPr lang="zh-CN" altLang="en-US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方法，可以与现有的网络基础设施兼容，通过国家基础设施进行身份验证，数据最小化共享。该方案为自然人设计，适用于自然人主导的智能体场景，但难以满足智能体自治、派生和跨域协作的需求。</a:t>
            </a:r>
          </a:p>
          <a:p>
            <a:pPr>
              <a:lnSpc>
                <a:spcPct val="150000"/>
              </a:lnSpc>
            </a:pPr>
            <a:endParaRPr lang="zh-CN" altLang="en-US">
              <a:solidFill>
                <a:srgbClr val="3D41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"/>
            <a:ext cx="1598613" cy="57150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644650" y="1"/>
            <a:ext cx="358775" cy="5715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38350" y="-50800"/>
            <a:ext cx="234950" cy="61153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-49213" y="571501"/>
            <a:ext cx="12290425" cy="0"/>
          </a:xfrm>
          <a:prstGeom prst="line">
            <a:avLst/>
          </a:prstGeom>
          <a:ln w="38100" cmpd="sng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339975" y="88900"/>
            <a:ext cx="75476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主流的智能体协议在身份构建问题现状分析</a:t>
            </a:r>
          </a:p>
        </p:txBody>
      </p:sp>
      <p:cxnSp>
        <p:nvCxnSpPr>
          <p:cNvPr id="25" name="直接箭头连接符 24"/>
          <p:cNvCxnSpPr/>
          <p:nvPr/>
        </p:nvCxnSpPr>
        <p:spPr>
          <a:xfrm>
            <a:off x="2987040" y="6858000"/>
            <a:ext cx="2829560" cy="27495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H="1">
            <a:off x="4017010" y="7684135"/>
            <a:ext cx="635" cy="21717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6649720" y="8616950"/>
            <a:ext cx="108775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7）Bind</a:t>
            </a:r>
            <a:endParaRPr lang="en-US" altLang="zh-CN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 rot="2760000">
            <a:off x="-1501775" y="9074150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8）Reveal  identity when necessary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53060" y="1051560"/>
            <a:ext cx="11160125" cy="5077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）缺乏统一且完备的身份规范</a:t>
            </a:r>
          </a:p>
          <a:p>
            <a:pPr indent="457200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现有主流智能体协议多聚焦于任务协作与资源调用，而缺乏针对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个人智能体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的系统身份构建方案。身份定义的不统一导致智能体间互操作性差、信任体系碎片化，难以支撑跨域环境下的可信协作。</a:t>
            </a:r>
          </a:p>
          <a:p>
            <a:pPr indent="0" fontAlgn="auto">
              <a:lnSpc>
                <a:spcPct val="150000"/>
              </a:lnSpc>
              <a:spcAft>
                <a:spcPts val="0"/>
              </a:spcAft>
            </a:pP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DID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的适用性受限</a:t>
            </a:r>
          </a:p>
          <a:p>
            <a:pPr indent="457200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DID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被认为是实现智能体自我主权身份的潜在方向，但现有方法（如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did:key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did:webvh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）主要面向人类或组织，未能适应智能体的动态性与可派生特征。当前仍缺乏将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DID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与自然人进行可信锚定的标准化机制。</a:t>
            </a:r>
          </a:p>
          <a:p>
            <a:pPr indent="0" fontAlgn="auto">
              <a:lnSpc>
                <a:spcPct val="150000"/>
              </a:lnSpc>
              <a:spcAft>
                <a:spcPts val="0"/>
              </a:spcAft>
            </a:pP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）自我主权与监管追责的平衡缺失</a:t>
            </a:r>
          </a:p>
          <a:p>
            <a:pPr indent="457200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BSN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实名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DID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通过权威绑定实现强监管，却削弱了自我主权并引发隐私风险；而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ANP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虽具去中心化特性，却缺乏现实身份锚定，难以进行责任追溯。当前体系尚未在自我主权性与可监管性间形成有效平衡。</a:t>
            </a:r>
          </a:p>
          <a:p>
            <a:pPr indent="0" fontAlgn="auto">
              <a:lnSpc>
                <a:spcPct val="150000"/>
              </a:lnSpc>
              <a:spcAft>
                <a:spcPts val="0"/>
              </a:spcAft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04745" y="8092440"/>
            <a:ext cx="609600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）动态智能体的生命周期管理薄弱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在实际应用中，个人智能体在执行特定任务或进行匿名交互时，常会派生出一些以临时、短暂形式存在的子智能体。这些子智能体在完成任务后即被关闭或销毁，其生命周期短暂且缺乏统一的身份管理机制。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"/>
            <a:ext cx="1598613" cy="57150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644650" y="1"/>
            <a:ext cx="358775" cy="5715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38350" y="-50800"/>
            <a:ext cx="234950" cy="61153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-49213" y="571501"/>
            <a:ext cx="12290425" cy="0"/>
          </a:xfrm>
          <a:prstGeom prst="line">
            <a:avLst/>
          </a:prstGeom>
          <a:ln w="38100" cmpd="sng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2461260" y="60325"/>
            <a:ext cx="93332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系统目标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19100" y="571500"/>
            <a:ext cx="11605260" cy="6323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解决的问题</a:t>
            </a:r>
          </a:p>
          <a:p>
            <a:pPr marL="0" lvl="0" indent="457200">
              <a:lnSpc>
                <a:spcPct val="150000"/>
              </a:lnSpc>
              <a:buNone/>
            </a:pPr>
            <a:r>
              <a:rPr lang="zh-CN" altLang="en-US" i="0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本系统旨在解决个人智能体在网络活动中，如何在保障强烈的自我表达诉求和身份隐私保护的同时，实现与物理实体的可靠绑定，并对具有恶意行为的智能体进行身份揭露。</a:t>
            </a:r>
          </a:p>
          <a:p>
            <a:pPr marL="0" lvl="0" indent="457200">
              <a:lnSpc>
                <a:spcPct val="150000"/>
              </a:lnSpc>
              <a:buNone/>
            </a:pPr>
            <a:endParaRPr lang="zh-CN" altLang="en-US" i="0">
              <a:solidFill>
                <a:srgbClr val="3D41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zh-CN" altLang="en-US" b="1" i="0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自我主权性：</a:t>
            </a:r>
          </a:p>
          <a:p>
            <a:pPr marL="0" indent="457200">
              <a:lnSpc>
                <a:spcPct val="150000"/>
              </a:lnSpc>
            </a:pPr>
            <a:r>
              <a:rPr lang="zh-CN" altLang="en-US" b="0" i="0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用户自行生成唯一的自证明身份标识符</a:t>
            </a:r>
            <a:r>
              <a:rPr lang="en-US" altLang="zh-CN" b="0" i="0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(SCID)</a:t>
            </a:r>
            <a:r>
              <a:rPr lang="zh-CN" altLang="en-US" b="0" i="0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，此标识符作为其主权的基础锚点。在获取个人智能体后，唯有用户可以对智能体进行身份定义，并授权其以用户的身份执行任务。用户拥有完全自主权，可随时动态更新自身的身份信息，但</a:t>
            </a:r>
            <a:r>
              <a:rPr lang="en-US" altLang="zh-CN" b="0" i="0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SCID</a:t>
            </a:r>
            <a:r>
              <a:rPr lang="zh-CN" altLang="en-US" b="0" i="0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保持永久不变，确保了身份的连续性和唯一绑定性。</a:t>
            </a:r>
          </a:p>
          <a:p>
            <a:pPr marL="0" indent="0">
              <a:lnSpc>
                <a:spcPct val="150000"/>
              </a:lnSpc>
            </a:pPr>
            <a:r>
              <a:rPr lang="zh-CN" altLang="en-US" b="1" i="0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隐私保护性：</a:t>
            </a:r>
          </a:p>
          <a:p>
            <a:pPr marL="0" indent="457200">
              <a:lnSpc>
                <a:spcPct val="150000"/>
              </a:lnSpc>
            </a:pPr>
            <a:r>
              <a:rPr lang="zh-CN" altLang="en-US" b="0" i="0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用户在获取</a:t>
            </a:r>
            <a:r>
              <a:rPr lang="en-US" altLang="zh-CN" b="0" i="0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PHC</a:t>
            </a:r>
            <a:r>
              <a:rPr lang="zh-CN" altLang="en-US" b="0" i="0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的过程中，信任提供商</a:t>
            </a:r>
            <a:r>
              <a:rPr lang="en-US" altLang="zh-CN" b="0" i="0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TP</a:t>
            </a:r>
            <a:r>
              <a:rPr lang="zh-CN" altLang="en-US" b="0" i="0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并不存储用户的相关身份信息，并且没有其他实体能够获得关于</a:t>
            </a:r>
            <a:r>
              <a:rPr lang="en-US" altLang="zh-CN" b="0" i="0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user</a:t>
            </a:r>
            <a:r>
              <a:rPr lang="zh-CN" altLang="en-US" b="0" i="0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的身份敏感信息。在用户获取个人智能体时，用户利用</a:t>
            </a:r>
            <a:r>
              <a:rPr lang="en-US" altLang="zh-CN" b="0" i="0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did</a:t>
            </a:r>
            <a:r>
              <a:rPr lang="zh-CN" altLang="en-US" b="0" i="0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来进行访问，同时提供人格凭证</a:t>
            </a:r>
            <a:r>
              <a:rPr lang="en-US" altLang="zh-CN" b="0" i="0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PHC,</a:t>
            </a:r>
            <a:r>
              <a:rPr lang="zh-CN" altLang="en-US" b="0" i="0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智能体提供商</a:t>
            </a:r>
            <a:r>
              <a:rPr lang="en-US" altLang="zh-CN" b="0" i="0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</a:t>
            </a:r>
            <a:r>
              <a:rPr lang="zh-CN" altLang="en-US" b="0" i="0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不会获得任何关于用户的隐私身份信息。用户的隐私文件与索引都会加密存储。</a:t>
            </a:r>
          </a:p>
          <a:p>
            <a:pPr marL="0" indent="0">
              <a:lnSpc>
                <a:spcPct val="150000"/>
              </a:lnSpc>
            </a:pPr>
            <a:r>
              <a:rPr lang="zh-CN" altLang="en-US" b="1" i="0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可监管性：</a:t>
            </a:r>
          </a:p>
          <a:p>
            <a:pPr marL="0" indent="457200">
              <a:lnSpc>
                <a:spcPct val="150000"/>
              </a:lnSpc>
            </a:pPr>
            <a:r>
              <a:rPr lang="zh-CN" altLang="en-US" b="0" i="0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在用户构建</a:t>
            </a:r>
            <a:r>
              <a:rPr lang="en-US" altLang="zh-CN" b="0" i="0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SCID</a:t>
            </a:r>
            <a:r>
              <a:rPr lang="zh-CN" altLang="en-US" b="0" i="0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时，通过</a:t>
            </a:r>
            <a:r>
              <a:rPr lang="en-US" altLang="zh-CN" b="0" i="0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TP</a:t>
            </a:r>
            <a:r>
              <a:rPr lang="zh-CN" altLang="en-US" b="0" i="0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提供的</a:t>
            </a:r>
            <a:r>
              <a:rPr lang="en-US" altLang="zh-CN" b="0" i="0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paillier</a:t>
            </a:r>
            <a:r>
              <a:rPr lang="zh-CN" altLang="en-US" b="0" i="0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公钥对用户身份信息进行加密得到监管因子</a:t>
            </a:r>
            <a:r>
              <a:rPr lang="en-US" altLang="zh-CN" b="0" i="0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RF</a:t>
            </a:r>
            <a:r>
              <a:rPr lang="en-US" b="0" i="0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;TP</a:t>
            </a:r>
            <a:r>
              <a:rPr lang="zh-CN" altLang="en-US" b="0" i="0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会检验</a:t>
            </a:r>
            <a:r>
              <a:rPr lang="en-US" altLang="zh-CN" b="0" i="0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RF</a:t>
            </a:r>
            <a:r>
              <a:rPr lang="zh-CN" altLang="en-US" b="0" i="0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的正确性，并将其写入到</a:t>
            </a:r>
            <a:r>
              <a:rPr lang="en-US" altLang="zh-CN" b="0" i="0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SCID</a:t>
            </a:r>
            <a:r>
              <a:rPr lang="zh-CN" altLang="en-US" b="0" i="0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的自定义变色龙哈希</a:t>
            </a:r>
            <a:r>
              <a:rPr lang="en-US" altLang="zh-CN" b="0" i="0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AF</a:t>
            </a:r>
            <a:r>
              <a:rPr lang="zh-CN" altLang="en-US" b="0" i="0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中。由此</a:t>
            </a:r>
            <a:r>
              <a:rPr lang="zh-CN" altLang="en-US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信任提供商</a:t>
            </a:r>
            <a:r>
              <a:rPr lang="en-US" altLang="zh-CN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TP</a:t>
            </a:r>
            <a:r>
              <a:rPr lang="zh-CN" altLang="en-US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可以揭露非法智能体的对应用户身份信息。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"/>
            <a:ext cx="1598613" cy="57150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644650" y="1"/>
            <a:ext cx="358775" cy="5715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38350" y="-50800"/>
            <a:ext cx="234950" cy="61153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-49213" y="571501"/>
            <a:ext cx="12290425" cy="0"/>
          </a:xfrm>
          <a:prstGeom prst="line">
            <a:avLst/>
          </a:prstGeom>
          <a:ln w="38100" cmpd="sng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339975" y="88900"/>
            <a:ext cx="46278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系统模型</a:t>
            </a:r>
          </a:p>
        </p:txBody>
      </p:sp>
      <p:cxnSp>
        <p:nvCxnSpPr>
          <p:cNvPr id="25" name="直接箭头连接符 24"/>
          <p:cNvCxnSpPr/>
          <p:nvPr/>
        </p:nvCxnSpPr>
        <p:spPr>
          <a:xfrm>
            <a:off x="2987040" y="6858000"/>
            <a:ext cx="2829560" cy="27495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H="1">
            <a:off x="4017010" y="7684135"/>
            <a:ext cx="635" cy="21717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6649720" y="8616950"/>
            <a:ext cx="108775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7）Bind</a:t>
            </a:r>
            <a:endParaRPr lang="en-US" altLang="zh-CN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 rot="2760000">
            <a:off x="-1501775" y="9074150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8）Reveal  identity when necessary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83945" y="688340"/>
            <a:ext cx="9676765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在用户驱动其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agent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与其他实体交互之前，需要完成用户自己与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agent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之间的强绑定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876300" y="3884930"/>
            <a:ext cx="1023937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user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生活在物理世界中的自然人，首先向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TP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请求人格凭证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Personhood Credential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PHC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），并利用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PHC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请求个人专属智能体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Personal Agent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trust provider(TP)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验证并监管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user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在物理世界中的真实身份（网证，人脸等），并为其提供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人格凭证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PHC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provider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负责为每个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user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个性化定制生成唯一的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个人专属智能体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IPFS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分布式文件存储系统，用于存放经加密处理的用户隐私数据。</a:t>
            </a:r>
          </a:p>
        </p:txBody>
      </p:sp>
      <p:cxnSp>
        <p:nvCxnSpPr>
          <p:cNvPr id="13" name="直接箭头连接符 12"/>
          <p:cNvCxnSpPr/>
          <p:nvPr>
            <p:custDataLst>
              <p:tags r:id="rId1"/>
            </p:custDataLst>
          </p:nvPr>
        </p:nvCxnSpPr>
        <p:spPr>
          <a:xfrm flipH="1" flipV="1">
            <a:off x="4686300" y="1847215"/>
            <a:ext cx="1922780" cy="120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>
            <p:custDataLst>
              <p:tags r:id="rId2"/>
            </p:custDataLst>
          </p:nvPr>
        </p:nvSpPr>
        <p:spPr>
          <a:xfrm>
            <a:off x="4779645" y="2093595"/>
            <a:ext cx="1326515" cy="34607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zh-CN" sz="1400" dirty="0">
                <a:latin typeface="Times New Roman" panose="02020603050405020304" charset="0"/>
                <a:ea typeface="Calibri" panose="020F0502020204030204" charset="0"/>
                <a:cs typeface="Times New Roman" panose="02020603050405020304" charset="0"/>
              </a:rPr>
              <a:t>3</a:t>
            </a:r>
            <a:r>
              <a:rPr lang="zh-CN" altLang="en-US" sz="14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）</a:t>
            </a:r>
            <a:r>
              <a:rPr lang="en-US" altLang="zh-CN" sz="14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return PHC </a:t>
            </a:r>
          </a:p>
        </p:txBody>
      </p:sp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4768215" y="1540510"/>
            <a:ext cx="11182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）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Register</a:t>
            </a:r>
          </a:p>
        </p:txBody>
      </p:sp>
      <p:cxnSp>
        <p:nvCxnSpPr>
          <p:cNvPr id="17" name="直接箭头连接符 16"/>
          <p:cNvCxnSpPr/>
          <p:nvPr/>
        </p:nvCxnSpPr>
        <p:spPr>
          <a:xfrm flipH="1">
            <a:off x="7874635" y="2045335"/>
            <a:ext cx="2480310" cy="10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>
            <p:custDataLst>
              <p:tags r:id="rId4"/>
            </p:custDataLst>
          </p:nvPr>
        </p:nvCxnSpPr>
        <p:spPr>
          <a:xfrm>
            <a:off x="4686300" y="2457450"/>
            <a:ext cx="1916430" cy="57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7908925" y="1259840"/>
            <a:ext cx="238696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4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）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request PA</a:t>
            </a:r>
          </a:p>
        </p:txBody>
      </p:sp>
      <p:grpSp>
        <p:nvGrpSpPr>
          <p:cNvPr id="20" name="组合 19"/>
          <p:cNvGrpSpPr/>
          <p:nvPr>
            <p:custDataLst>
              <p:tags r:id="rId5"/>
            </p:custDataLst>
          </p:nvPr>
        </p:nvGrpSpPr>
        <p:grpSpPr>
          <a:xfrm>
            <a:off x="6728460" y="1663065"/>
            <a:ext cx="1035050" cy="1106805"/>
            <a:chOff x="1754" y="4662"/>
            <a:chExt cx="1630" cy="1743"/>
          </a:xfrm>
        </p:grpSpPr>
        <p:pic>
          <p:nvPicPr>
            <p:cNvPr id="22" name="图片 21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9"/>
            <a:stretch>
              <a:fillRect/>
            </a:stretch>
          </p:blipFill>
          <p:spPr>
            <a:xfrm>
              <a:off x="1754" y="4662"/>
              <a:ext cx="1631" cy="1416"/>
            </a:xfrm>
            <a:prstGeom prst="rect">
              <a:avLst/>
            </a:prstGeom>
          </p:spPr>
        </p:pic>
        <p:sp>
          <p:nvSpPr>
            <p:cNvPr id="23" name="文本框 22"/>
            <p:cNvSpPr txBox="1"/>
            <p:nvPr>
              <p:custDataLst>
                <p:tags r:id="rId16"/>
              </p:custDataLst>
            </p:nvPr>
          </p:nvSpPr>
          <p:spPr>
            <a:xfrm>
              <a:off x="2046" y="5923"/>
              <a:ext cx="1189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1400">
                  <a:latin typeface="Times New Roman" panose="02020603050405020304" charset="0"/>
                  <a:cs typeface="Times New Roman" panose="02020603050405020304" charset="0"/>
                </a:rPr>
                <a:t>User</a:t>
              </a:r>
            </a:p>
          </p:txBody>
        </p:sp>
      </p:grpSp>
      <p:grpSp>
        <p:nvGrpSpPr>
          <p:cNvPr id="27" name="组合 26"/>
          <p:cNvGrpSpPr/>
          <p:nvPr>
            <p:custDataLst>
              <p:tags r:id="rId6"/>
            </p:custDataLst>
          </p:nvPr>
        </p:nvGrpSpPr>
        <p:grpSpPr>
          <a:xfrm>
            <a:off x="3220085" y="1429385"/>
            <a:ext cx="1221740" cy="1353820"/>
            <a:chOff x="7408" y="813"/>
            <a:chExt cx="1924" cy="2132"/>
          </a:xfrm>
        </p:grpSpPr>
        <p:pic>
          <p:nvPicPr>
            <p:cNvPr id="28" name="图片 27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20"/>
            <a:stretch>
              <a:fillRect/>
            </a:stretch>
          </p:blipFill>
          <p:spPr>
            <a:xfrm>
              <a:off x="7643" y="813"/>
              <a:ext cx="1689" cy="1591"/>
            </a:xfrm>
            <a:prstGeom prst="rect">
              <a:avLst/>
            </a:prstGeom>
          </p:spPr>
        </p:pic>
        <p:sp>
          <p:nvSpPr>
            <p:cNvPr id="29" name="文本框 28"/>
            <p:cNvSpPr txBox="1"/>
            <p:nvPr>
              <p:custDataLst>
                <p:tags r:id="rId14"/>
              </p:custDataLst>
            </p:nvPr>
          </p:nvSpPr>
          <p:spPr>
            <a:xfrm>
              <a:off x="7408" y="2463"/>
              <a:ext cx="1925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1400">
                  <a:latin typeface="Times New Roman" panose="02020603050405020304" charset="0"/>
                  <a:cs typeface="Times New Roman" panose="02020603050405020304" charset="0"/>
                </a:rPr>
                <a:t>Trust Provider</a:t>
              </a: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0617835" y="1654175"/>
            <a:ext cx="1413510" cy="1218565"/>
            <a:chOff x="7721" y="8717"/>
            <a:chExt cx="2226" cy="1919"/>
          </a:xfrm>
        </p:grpSpPr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7877" y="8717"/>
              <a:ext cx="1704" cy="1437"/>
            </a:xfrm>
            <a:prstGeom prst="rect">
              <a:avLst/>
            </a:prstGeom>
          </p:spPr>
        </p:pic>
        <p:sp>
          <p:nvSpPr>
            <p:cNvPr id="35" name="文本框 34"/>
            <p:cNvSpPr txBox="1"/>
            <p:nvPr/>
          </p:nvSpPr>
          <p:spPr>
            <a:xfrm>
              <a:off x="7721" y="10154"/>
              <a:ext cx="2226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1400">
                  <a:latin typeface="Times New Roman" panose="02020603050405020304" charset="0"/>
                  <a:cs typeface="Times New Roman" panose="02020603050405020304" charset="0"/>
                </a:rPr>
                <a:t>Agent Provider</a:t>
              </a:r>
            </a:p>
          </p:txBody>
        </p:sp>
      </p:grpSp>
      <p:cxnSp>
        <p:nvCxnSpPr>
          <p:cNvPr id="36" name="直接箭头连接符 35"/>
          <p:cNvCxnSpPr/>
          <p:nvPr/>
        </p:nvCxnSpPr>
        <p:spPr>
          <a:xfrm flipH="1">
            <a:off x="7874496" y="3020802"/>
            <a:ext cx="2556894" cy="15406"/>
          </a:xfrm>
          <a:prstGeom prst="straightConnector1">
            <a:avLst/>
          </a:prstGeom>
          <a:ln w="19050" cmpd="sng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flipV="1">
            <a:off x="7924165" y="2489200"/>
            <a:ext cx="2479040" cy="152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7893685" y="2145030"/>
            <a:ext cx="371792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6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）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Personalized Setting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7991475" y="2640330"/>
            <a:ext cx="304228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7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）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return an PA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7884160" y="1680845"/>
            <a:ext cx="32575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5） 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Optional 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Settings</a:t>
            </a:r>
          </a:p>
        </p:txBody>
      </p:sp>
      <p:cxnSp>
        <p:nvCxnSpPr>
          <p:cNvPr id="59" name="直接箭头连接符 58"/>
          <p:cNvCxnSpPr/>
          <p:nvPr>
            <p:custDataLst>
              <p:tags r:id="rId7"/>
            </p:custDataLst>
          </p:nvPr>
        </p:nvCxnSpPr>
        <p:spPr>
          <a:xfrm flipH="1" flipV="1">
            <a:off x="1696085" y="2145030"/>
            <a:ext cx="1459230" cy="88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/>
          <p:cNvSpPr txBox="1"/>
          <p:nvPr>
            <p:custDataLst>
              <p:tags r:id="rId8"/>
            </p:custDataLst>
          </p:nvPr>
        </p:nvSpPr>
        <p:spPr>
          <a:xfrm>
            <a:off x="1706880" y="1792605"/>
            <a:ext cx="169354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）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Upload  files</a:t>
            </a:r>
          </a:p>
        </p:txBody>
      </p:sp>
      <p:cxnSp>
        <p:nvCxnSpPr>
          <p:cNvPr id="61" name="直接箭头连接符 60"/>
          <p:cNvCxnSpPr/>
          <p:nvPr>
            <p:custDataLst>
              <p:tags r:id="rId9"/>
            </p:custDataLst>
          </p:nvPr>
        </p:nvCxnSpPr>
        <p:spPr>
          <a:xfrm>
            <a:off x="7874635" y="1617345"/>
            <a:ext cx="2476500" cy="69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任意多边形 61"/>
          <p:cNvSpPr/>
          <p:nvPr/>
        </p:nvSpPr>
        <p:spPr>
          <a:xfrm>
            <a:off x="4013200" y="2729230"/>
            <a:ext cx="3171825" cy="313690"/>
          </a:xfrm>
          <a:custGeom>
            <a:avLst/>
            <a:gdLst>
              <a:gd name="connisteX0" fmla="*/ 0 w 3307715"/>
              <a:gd name="connsiteY0" fmla="*/ 18415 h 544195"/>
              <a:gd name="connisteX1" fmla="*/ 0 w 3307715"/>
              <a:gd name="connsiteY1" fmla="*/ 544195 h 544195"/>
              <a:gd name="connisteX2" fmla="*/ 3307715 w 3307715"/>
              <a:gd name="connsiteY2" fmla="*/ 544195 h 544195"/>
              <a:gd name="connisteX3" fmla="*/ 3307715 w 3307715"/>
              <a:gd name="connsiteY3" fmla="*/ 0 h 544195"/>
              <a:gd name="connisteX4" fmla="*/ 3301365 w 3307715"/>
              <a:gd name="connsiteY4" fmla="*/ 24765 h 54419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3307715" h="544195">
                <a:moveTo>
                  <a:pt x="0" y="18415"/>
                </a:moveTo>
                <a:lnTo>
                  <a:pt x="0" y="544195"/>
                </a:lnTo>
                <a:lnTo>
                  <a:pt x="3307715" y="544195"/>
                </a:lnTo>
                <a:lnTo>
                  <a:pt x="3307715" y="0"/>
                </a:lnTo>
                <a:lnTo>
                  <a:pt x="3301365" y="24765"/>
                </a:lnTo>
              </a:path>
            </a:pathLst>
          </a:custGeom>
          <a:noFill/>
          <a:ln w="15875">
            <a:solidFill>
              <a:schemeClr val="tx1"/>
            </a:solidFill>
            <a:prstDash val="sysDash"/>
            <a:headEnd type="none"/>
            <a:tailEnd type="stealt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/>
          <p:cNvSpPr txBox="1"/>
          <p:nvPr/>
        </p:nvSpPr>
        <p:spPr>
          <a:xfrm>
            <a:off x="5115560" y="2722880"/>
            <a:ext cx="124904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8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）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trace</a:t>
            </a:r>
          </a:p>
        </p:txBody>
      </p:sp>
      <p:grpSp>
        <p:nvGrpSpPr>
          <p:cNvPr id="64" name="组合 63"/>
          <p:cNvGrpSpPr/>
          <p:nvPr>
            <p:custDataLst>
              <p:tags r:id="rId10"/>
            </p:custDataLst>
          </p:nvPr>
        </p:nvGrpSpPr>
        <p:grpSpPr>
          <a:xfrm>
            <a:off x="199390" y="1429385"/>
            <a:ext cx="1736090" cy="1405255"/>
            <a:chOff x="314" y="2526"/>
            <a:chExt cx="2734" cy="2213"/>
          </a:xfrm>
        </p:grpSpPr>
        <p:pic>
          <p:nvPicPr>
            <p:cNvPr id="65" name="图片 64" descr="Gemini_Generated_Image_89xld89xld89xld8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2"/>
            <a:stretch>
              <a:fillRect/>
            </a:stretch>
          </p:blipFill>
          <p:spPr>
            <a:xfrm>
              <a:off x="314" y="2526"/>
              <a:ext cx="2341" cy="1904"/>
            </a:xfrm>
            <a:prstGeom prst="rect">
              <a:avLst/>
            </a:prstGeom>
          </p:spPr>
        </p:pic>
        <p:sp>
          <p:nvSpPr>
            <p:cNvPr id="66" name="文本框 65"/>
            <p:cNvSpPr txBox="1"/>
            <p:nvPr>
              <p:custDataLst>
                <p:tags r:id="rId12"/>
              </p:custDataLst>
            </p:nvPr>
          </p:nvSpPr>
          <p:spPr>
            <a:xfrm>
              <a:off x="1124" y="4257"/>
              <a:ext cx="1925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1400">
                  <a:latin typeface="Times New Roman" panose="02020603050405020304" charset="0"/>
                  <a:cs typeface="Times New Roman" panose="02020603050405020304" charset="0"/>
                </a:rPr>
                <a:t>IPFS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"/>
            <a:ext cx="1598613" cy="57150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644650" y="1"/>
            <a:ext cx="358775" cy="5715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38350" y="-50800"/>
            <a:ext cx="234950" cy="61153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-49213" y="571501"/>
            <a:ext cx="12290425" cy="0"/>
          </a:xfrm>
          <a:prstGeom prst="line">
            <a:avLst/>
          </a:prstGeom>
          <a:ln w="38100" cmpd="sng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2582545" y="117158"/>
            <a:ext cx="5080000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/>
            <a:r>
              <a:rPr lang="zh-CN" altLang="en-US" sz="24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系统模型图描述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99390" y="2667635"/>
            <a:ext cx="11694160" cy="4015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描述系统模型图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用户生成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锚定因子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AF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，将自己身份标识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ID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绑定到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AF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中，其中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ID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不可修改。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用户将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AF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，生物特征信息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和身份识别信息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PII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，发送给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TP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，进行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人格凭证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PHC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的申领请求。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2.TP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核验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AF,BI,PII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，之后派生出密钥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s1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将用户的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敏感信息加密后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上传到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IPFS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中，在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IPFS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返回文件索引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CID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之后对其加密。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3.TP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ID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进行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paillier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加密生成监管因子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RF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，再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RF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盲化加密生成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CRF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，同时将</a:t>
            </a:r>
            <a:r>
              <a:rPr lang="en-US" altLang="zh-CN" sz="1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CRF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绑定到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AF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，对创建用户的自认证标识符</a:t>
            </a:r>
            <a:r>
              <a:rPr lang="en-US" altLang="zh-CN" sz="1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SCID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AF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RF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）；最后创建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PHC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并颁发给用户，其中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PHC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包含基于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SCID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生成的用户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DID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用户收到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PHC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后，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验证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AF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RF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正确性，验证成功转发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PHC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给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AP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以请求个人专属智能体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PA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5.AP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验证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AF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正确性与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PHC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的签名，然后检查用户是否已经申请过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PA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；验证通过后，将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PA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的可选配置信息发送给用户。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6.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用户自定义选择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PA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的配置信息，然后将该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配置信息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返回给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AP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en-US" altLang="zh-CN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7.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AP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根据用户配置生成哈希链，写入到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PHC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的智能体描述信息中，同时将哈希链绑定到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AF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；随后，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AP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将更新后的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PHC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及个性化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PA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返回给用户。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8.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用户接受到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PA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后，验证哈希链与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AF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的正确性，用户操控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PA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使用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DID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在网络中活动。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9.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后续如果有恶意用户存在，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TP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可以根据该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DID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以及对应的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PHC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揭露该用户身份信息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</a:p>
        </p:txBody>
      </p:sp>
      <p:cxnSp>
        <p:nvCxnSpPr>
          <p:cNvPr id="9" name="直接箭头连接符 8"/>
          <p:cNvCxnSpPr/>
          <p:nvPr>
            <p:custDataLst>
              <p:tags r:id="rId1"/>
            </p:custDataLst>
          </p:nvPr>
        </p:nvCxnSpPr>
        <p:spPr>
          <a:xfrm flipH="1" flipV="1">
            <a:off x="4686300" y="1441450"/>
            <a:ext cx="1922780" cy="120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4779645" y="1687830"/>
            <a:ext cx="1326515" cy="34607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zh-CN" sz="1400" dirty="0">
                <a:latin typeface="Times New Roman" panose="02020603050405020304" charset="0"/>
                <a:ea typeface="Calibri" panose="020F0502020204030204" charset="0"/>
                <a:cs typeface="Times New Roman" panose="02020603050405020304" charset="0"/>
              </a:rPr>
              <a:t>3</a:t>
            </a:r>
            <a:r>
              <a:rPr lang="zh-CN" altLang="en-US" sz="14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）</a:t>
            </a:r>
            <a:r>
              <a:rPr lang="en-US" altLang="zh-CN" sz="1400" dirty="0">
                <a:latin typeface="Times New Roman" panose="02020603050405020304" charset="0"/>
                <a:ea typeface="+mn-lt"/>
                <a:cs typeface="Times New Roman" panose="02020603050405020304" charset="0"/>
              </a:rPr>
              <a:t>return PHC </a:t>
            </a:r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4768215" y="1134745"/>
            <a:ext cx="11182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）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Register</a:t>
            </a:r>
          </a:p>
        </p:txBody>
      </p:sp>
      <p:cxnSp>
        <p:nvCxnSpPr>
          <p:cNvPr id="14" name="直接箭头连接符 13"/>
          <p:cNvCxnSpPr/>
          <p:nvPr/>
        </p:nvCxnSpPr>
        <p:spPr>
          <a:xfrm flipH="1">
            <a:off x="7874635" y="1639570"/>
            <a:ext cx="2480310" cy="10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>
            <p:custDataLst>
              <p:tags r:id="rId4"/>
            </p:custDataLst>
          </p:nvPr>
        </p:nvCxnSpPr>
        <p:spPr>
          <a:xfrm>
            <a:off x="4686300" y="2051685"/>
            <a:ext cx="1916430" cy="57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7908925" y="854075"/>
            <a:ext cx="238696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4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）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request PA</a:t>
            </a:r>
          </a:p>
        </p:txBody>
      </p:sp>
      <p:grpSp>
        <p:nvGrpSpPr>
          <p:cNvPr id="17" name="组合 16"/>
          <p:cNvGrpSpPr/>
          <p:nvPr>
            <p:custDataLst>
              <p:tags r:id="rId5"/>
            </p:custDataLst>
          </p:nvPr>
        </p:nvGrpSpPr>
        <p:grpSpPr>
          <a:xfrm>
            <a:off x="6728460" y="1257300"/>
            <a:ext cx="1035050" cy="1106805"/>
            <a:chOff x="1754" y="4662"/>
            <a:chExt cx="1630" cy="1743"/>
          </a:xfrm>
        </p:grpSpPr>
        <p:pic>
          <p:nvPicPr>
            <p:cNvPr id="18" name="图片 17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20"/>
            <a:stretch>
              <a:fillRect/>
            </a:stretch>
          </p:blipFill>
          <p:spPr>
            <a:xfrm>
              <a:off x="1754" y="4662"/>
              <a:ext cx="1631" cy="1416"/>
            </a:xfrm>
            <a:prstGeom prst="rect">
              <a:avLst/>
            </a:prstGeom>
          </p:spPr>
        </p:pic>
        <p:sp>
          <p:nvSpPr>
            <p:cNvPr id="19" name="文本框 18"/>
            <p:cNvSpPr txBox="1"/>
            <p:nvPr>
              <p:custDataLst>
                <p:tags r:id="rId17"/>
              </p:custDataLst>
            </p:nvPr>
          </p:nvSpPr>
          <p:spPr>
            <a:xfrm>
              <a:off x="2046" y="5923"/>
              <a:ext cx="1189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1400">
                  <a:latin typeface="Times New Roman" panose="02020603050405020304" charset="0"/>
                  <a:cs typeface="Times New Roman" panose="02020603050405020304" charset="0"/>
                </a:rPr>
                <a:t>User</a:t>
              </a:r>
            </a:p>
          </p:txBody>
        </p:sp>
      </p:grpSp>
      <p:grpSp>
        <p:nvGrpSpPr>
          <p:cNvPr id="20" name="组合 19"/>
          <p:cNvGrpSpPr/>
          <p:nvPr>
            <p:custDataLst>
              <p:tags r:id="rId6"/>
            </p:custDataLst>
          </p:nvPr>
        </p:nvGrpSpPr>
        <p:grpSpPr>
          <a:xfrm>
            <a:off x="3220085" y="1023620"/>
            <a:ext cx="1221740" cy="1353820"/>
            <a:chOff x="7408" y="813"/>
            <a:chExt cx="1924" cy="2132"/>
          </a:xfrm>
        </p:grpSpPr>
        <p:pic>
          <p:nvPicPr>
            <p:cNvPr id="22" name="图片 21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21"/>
            <a:stretch>
              <a:fillRect/>
            </a:stretch>
          </p:blipFill>
          <p:spPr>
            <a:xfrm>
              <a:off x="7643" y="813"/>
              <a:ext cx="1689" cy="1591"/>
            </a:xfrm>
            <a:prstGeom prst="rect">
              <a:avLst/>
            </a:prstGeom>
          </p:spPr>
        </p:pic>
        <p:sp>
          <p:nvSpPr>
            <p:cNvPr id="23" name="文本框 22"/>
            <p:cNvSpPr txBox="1"/>
            <p:nvPr>
              <p:custDataLst>
                <p:tags r:id="rId15"/>
              </p:custDataLst>
            </p:nvPr>
          </p:nvSpPr>
          <p:spPr>
            <a:xfrm>
              <a:off x="7408" y="2463"/>
              <a:ext cx="1925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1400">
                  <a:latin typeface="Times New Roman" panose="02020603050405020304" charset="0"/>
                  <a:cs typeface="Times New Roman" panose="02020603050405020304" charset="0"/>
                </a:rPr>
                <a:t>Trust Provider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0654665" y="1158875"/>
            <a:ext cx="1413510" cy="1218565"/>
            <a:chOff x="7721" y="8717"/>
            <a:chExt cx="2226" cy="1919"/>
          </a:xfrm>
        </p:grpSpPr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7877" y="8717"/>
              <a:ext cx="1704" cy="1437"/>
            </a:xfrm>
            <a:prstGeom prst="rect">
              <a:avLst/>
            </a:prstGeom>
          </p:spPr>
        </p:pic>
        <p:sp>
          <p:nvSpPr>
            <p:cNvPr id="26" name="文本框 25"/>
            <p:cNvSpPr txBox="1"/>
            <p:nvPr/>
          </p:nvSpPr>
          <p:spPr>
            <a:xfrm>
              <a:off x="7721" y="10154"/>
              <a:ext cx="2226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1400">
                  <a:latin typeface="Times New Roman" panose="02020603050405020304" charset="0"/>
                  <a:cs typeface="Times New Roman" panose="02020603050405020304" charset="0"/>
                </a:rPr>
                <a:t>Agent Provider</a:t>
              </a:r>
            </a:p>
          </p:txBody>
        </p:sp>
      </p:grpSp>
      <p:cxnSp>
        <p:nvCxnSpPr>
          <p:cNvPr id="27" name="直接箭头连接符 26"/>
          <p:cNvCxnSpPr/>
          <p:nvPr/>
        </p:nvCxnSpPr>
        <p:spPr>
          <a:xfrm flipH="1">
            <a:off x="7874496" y="2615037"/>
            <a:ext cx="2556894" cy="15406"/>
          </a:xfrm>
          <a:prstGeom prst="straightConnector1">
            <a:avLst/>
          </a:prstGeom>
          <a:ln w="19050" cmpd="sng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V="1">
            <a:off x="7924165" y="2083435"/>
            <a:ext cx="2479040" cy="152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7893685" y="1739265"/>
            <a:ext cx="371792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6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）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Personalized Setting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7991475" y="2234565"/>
            <a:ext cx="304228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7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）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return an PA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7884160" y="1275080"/>
            <a:ext cx="32575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5） 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Optional 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Settings</a:t>
            </a:r>
          </a:p>
        </p:txBody>
      </p:sp>
      <p:cxnSp>
        <p:nvCxnSpPr>
          <p:cNvPr id="32" name="直接箭头连接符 31"/>
          <p:cNvCxnSpPr/>
          <p:nvPr>
            <p:custDataLst>
              <p:tags r:id="rId7"/>
            </p:custDataLst>
          </p:nvPr>
        </p:nvCxnSpPr>
        <p:spPr>
          <a:xfrm flipH="1" flipV="1">
            <a:off x="1696085" y="1739265"/>
            <a:ext cx="1459230" cy="88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组合 34"/>
          <p:cNvGrpSpPr/>
          <p:nvPr>
            <p:custDataLst>
              <p:tags r:id="rId8"/>
            </p:custDataLst>
          </p:nvPr>
        </p:nvGrpSpPr>
        <p:grpSpPr>
          <a:xfrm>
            <a:off x="199390" y="1023620"/>
            <a:ext cx="1736090" cy="1405255"/>
            <a:chOff x="314" y="2526"/>
            <a:chExt cx="2734" cy="2213"/>
          </a:xfrm>
        </p:grpSpPr>
        <p:pic>
          <p:nvPicPr>
            <p:cNvPr id="36" name="图片 35" descr="Gemini_Generated_Image_89xld89xld89xld8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23"/>
            <a:stretch>
              <a:fillRect/>
            </a:stretch>
          </p:blipFill>
          <p:spPr>
            <a:xfrm>
              <a:off x="314" y="2526"/>
              <a:ext cx="2341" cy="1904"/>
            </a:xfrm>
            <a:prstGeom prst="rect">
              <a:avLst/>
            </a:prstGeom>
          </p:spPr>
        </p:pic>
        <p:sp>
          <p:nvSpPr>
            <p:cNvPr id="37" name="文本框 36"/>
            <p:cNvSpPr txBox="1"/>
            <p:nvPr>
              <p:custDataLst>
                <p:tags r:id="rId13"/>
              </p:custDataLst>
            </p:nvPr>
          </p:nvSpPr>
          <p:spPr>
            <a:xfrm>
              <a:off x="1124" y="4257"/>
              <a:ext cx="1925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1400">
                  <a:latin typeface="Times New Roman" panose="02020603050405020304" charset="0"/>
                  <a:cs typeface="Times New Roman" panose="02020603050405020304" charset="0"/>
                </a:rPr>
                <a:t>IPFS</a:t>
              </a:r>
            </a:p>
          </p:txBody>
        </p:sp>
      </p:grpSp>
      <p:sp>
        <p:nvSpPr>
          <p:cNvPr id="39" name="文本框 38"/>
          <p:cNvSpPr txBox="1"/>
          <p:nvPr>
            <p:custDataLst>
              <p:tags r:id="rId9"/>
            </p:custDataLst>
          </p:nvPr>
        </p:nvSpPr>
        <p:spPr>
          <a:xfrm>
            <a:off x="1706880" y="1386840"/>
            <a:ext cx="169354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）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Upload  files</a:t>
            </a:r>
          </a:p>
        </p:txBody>
      </p:sp>
      <p:cxnSp>
        <p:nvCxnSpPr>
          <p:cNvPr id="8" name="直接箭头连接符 7"/>
          <p:cNvCxnSpPr/>
          <p:nvPr>
            <p:custDataLst>
              <p:tags r:id="rId10"/>
            </p:custDataLst>
          </p:nvPr>
        </p:nvCxnSpPr>
        <p:spPr>
          <a:xfrm>
            <a:off x="7874635" y="1211580"/>
            <a:ext cx="2476500" cy="69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任意多边形 20"/>
          <p:cNvSpPr/>
          <p:nvPr/>
        </p:nvSpPr>
        <p:spPr>
          <a:xfrm>
            <a:off x="4013200" y="2323465"/>
            <a:ext cx="3171825" cy="313690"/>
          </a:xfrm>
          <a:custGeom>
            <a:avLst/>
            <a:gdLst>
              <a:gd name="connisteX0" fmla="*/ 0 w 3307715"/>
              <a:gd name="connsiteY0" fmla="*/ 18415 h 544195"/>
              <a:gd name="connisteX1" fmla="*/ 0 w 3307715"/>
              <a:gd name="connsiteY1" fmla="*/ 544195 h 544195"/>
              <a:gd name="connisteX2" fmla="*/ 3307715 w 3307715"/>
              <a:gd name="connsiteY2" fmla="*/ 544195 h 544195"/>
              <a:gd name="connisteX3" fmla="*/ 3307715 w 3307715"/>
              <a:gd name="connsiteY3" fmla="*/ 0 h 544195"/>
              <a:gd name="connisteX4" fmla="*/ 3301365 w 3307715"/>
              <a:gd name="connsiteY4" fmla="*/ 24765 h 54419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3307715" h="544195">
                <a:moveTo>
                  <a:pt x="0" y="18415"/>
                </a:moveTo>
                <a:lnTo>
                  <a:pt x="0" y="544195"/>
                </a:lnTo>
                <a:lnTo>
                  <a:pt x="3307715" y="544195"/>
                </a:lnTo>
                <a:lnTo>
                  <a:pt x="3307715" y="0"/>
                </a:lnTo>
                <a:lnTo>
                  <a:pt x="3301365" y="24765"/>
                </a:lnTo>
              </a:path>
            </a:pathLst>
          </a:custGeom>
          <a:noFill/>
          <a:ln w="15875">
            <a:solidFill>
              <a:schemeClr val="tx1"/>
            </a:solidFill>
            <a:prstDash val="sysDash"/>
            <a:headEnd type="none"/>
            <a:tailEnd type="stealt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5115560" y="2317115"/>
            <a:ext cx="124904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9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）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trace</a:t>
            </a:r>
          </a:p>
        </p:txBody>
      </p:sp>
      <p:sp>
        <p:nvSpPr>
          <p:cNvPr id="7" name="环形箭头 6"/>
          <p:cNvSpPr/>
          <p:nvPr/>
        </p:nvSpPr>
        <p:spPr>
          <a:xfrm>
            <a:off x="6992620" y="979805"/>
            <a:ext cx="271780" cy="295275"/>
          </a:xfrm>
          <a:prstGeom prst="circularArrow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11"/>
            </p:custDataLst>
          </p:nvPr>
        </p:nvSpPr>
        <p:spPr>
          <a:xfrm>
            <a:off x="6728460" y="625475"/>
            <a:ext cx="11182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8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）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Verify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"/>
            <a:ext cx="1598613" cy="57150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644650" y="1"/>
            <a:ext cx="358775" cy="5715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38350" y="-50800"/>
            <a:ext cx="234950" cy="61153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-49213" y="571501"/>
            <a:ext cx="12290425" cy="0"/>
          </a:xfrm>
          <a:prstGeom prst="line">
            <a:avLst/>
          </a:prstGeom>
          <a:ln w="38100" cmpd="sng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2582545" y="117158"/>
            <a:ext cx="5080000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/>
            <a:r>
              <a:rPr lang="en-US" altLang="zh-CN" sz="24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PHC</a:t>
            </a:r>
            <a:r>
              <a:rPr lang="zh-CN" altLang="en-US" sz="24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结构和构造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10490" y="662940"/>
            <a:ext cx="7005320" cy="61353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noAutofit/>
          </a:bodyPr>
          <a:lstStyle/>
          <a:p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"@context": </a:t>
            </a: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语义定义映射表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,</a:t>
            </a:r>
          </a:p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"ASO":{</a:t>
            </a:r>
          </a:p>
          <a:p>
            <a:pPr marL="457200" lvl="1" indent="457200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"T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PM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":</a:t>
            </a:r>
          </a:p>
          <a:p>
            <a:pPr marL="914400" lvl="2" indent="457200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"Time"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：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TP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创建或者修改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PHC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的时间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,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2" indent="457200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"CDID"</a:t>
            </a: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：用户公钥加密的智能体的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DID,</a:t>
            </a:r>
            <a:endParaRPr lang="zh-CN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914400" lvl="2" indent="457200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"AF":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锚定因子，用于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AP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验证身份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,</a:t>
            </a:r>
          </a:p>
          <a:p>
            <a:pPr marL="914400" lvl="2" indent="457200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"ECID":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智能体的拥有者的身份文件的加密索引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0" lvl="1" indent="457200">
              <a:buNone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"A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PM":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914400" lvl="2" indent="457200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"Time"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：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AP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修改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PHC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的时间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,</a:t>
            </a:r>
          </a:p>
          <a:p>
            <a:pPr marL="914400" lvl="2" indent="457200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"</a:t>
            </a:r>
            <a:r>
              <a:rPr 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CMI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":PA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的自定义功能模块的哈希链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,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"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TPA":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{</a:t>
            </a:r>
          </a:p>
          <a:p>
            <a:pPr marL="457200" lvl="1" indent="457200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"TPid": TP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的公钥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,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457200">
              <a:buNone/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"TPproof"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：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TP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对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ASO.TPM,TPid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的签名值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,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	  },</a:t>
            </a:r>
          </a:p>
          <a:p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"APA"</a:t>
            </a: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：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{</a:t>
            </a:r>
          </a:p>
          <a:p>
            <a:pPr marL="457200" lvl="1" indent="457200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"APid":A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的公钥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,</a:t>
            </a:r>
          </a:p>
          <a:p>
            <a:pPr marL="457200" lvl="1" indent="457200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"APproof"</a:t>
            </a: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：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AP</a:t>
            </a: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对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ASO.APM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与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APid</a:t>
            </a: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的签名值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,</a:t>
            </a:r>
          </a:p>
          <a:p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}</a:t>
            </a: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，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"PROOF": {</a:t>
            </a:r>
          </a:p>
          <a:p>
            <a:pPr marL="457200" lvl="1" indent="457200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"TPCH":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对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ASO.TPM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与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TPA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的变色龙哈希值</a:t>
            </a:r>
          </a:p>
          <a:p>
            <a:pPr marL="457200" lvl="1" indent="457200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"APCH":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对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ASO.APM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与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APA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的变色龙哈希值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,</a:t>
            </a:r>
          </a:p>
          <a:p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	"CHproof": CH=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TPCH||APCH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）</a:t>
            </a: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的签名值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, </a:t>
            </a:r>
          </a:p>
          <a:p>
            <a:pPr marL="457200" lvl="1" indent="457200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"VM":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对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TPproof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，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APproof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，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CHproof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的验证方法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}</a:t>
            </a:r>
          </a:p>
          <a:p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33920" y="662940"/>
            <a:ext cx="4957445" cy="4661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JSON-LD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格式的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PHC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1.TP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初始生成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PHC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时，有权限修改</a:t>
            </a:r>
            <a:r>
              <a:rPr lang="en-US" altLang="zh-CN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"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agentSelfOwned</a:t>
            </a:r>
            <a:r>
              <a:rPr lang="en-US" altLang="zh-CN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"(ASO)</a:t>
            </a:r>
            <a:r>
              <a:rPr lang="zh-CN" altLang="en-US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，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"tpAttestation"(TPA)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字段与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"apAttestation"(APA)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字段的内容</a:t>
            </a:r>
          </a:p>
          <a:p>
            <a:pPr>
              <a:lnSpc>
                <a:spcPct val="150000"/>
              </a:lnSpc>
            </a:pPr>
            <a:endParaRPr lang="zh-CN" altLang="en-US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2.TP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会计算出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TPCH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与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APCH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，并两者的拼接值进行签名，作为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PHC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的签名。</a:t>
            </a:r>
          </a:p>
          <a:p>
            <a:pPr>
              <a:lnSpc>
                <a:spcPct val="150000"/>
              </a:lnSpc>
            </a:pPr>
            <a:endParaRPr lang="zh-CN" altLang="en-US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3.TP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会将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"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APCH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"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的陷门发送给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AP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，使得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AP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能够修改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"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APA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"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，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"APM"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内容的同时使得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PHC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的签名不变。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"/>
            <a:ext cx="1598613" cy="57150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644650" y="1"/>
            <a:ext cx="358775" cy="5715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38350" y="-50800"/>
            <a:ext cx="234950" cy="61153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317" y="582296"/>
            <a:ext cx="12290425" cy="0"/>
          </a:xfrm>
          <a:prstGeom prst="line">
            <a:avLst/>
          </a:prstGeom>
          <a:ln w="38100" cmpd="sng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2582545" y="117158"/>
            <a:ext cx="5080000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/>
            <a:r>
              <a:rPr lang="en-US" altLang="zh-CN" sz="24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DID</a:t>
            </a:r>
            <a:r>
              <a:rPr lang="zh-CN" altLang="en-US" sz="24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的结构与构造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39775" y="1245235"/>
            <a:ext cx="4994275" cy="9918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DID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结构：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>
              <a:lnSpc>
                <a:spcPct val="150000"/>
              </a:lnSpc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did:wba:&lt;SCID&gt;:&lt;domain&gt;[:&lt;path&gt;]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48030" y="2936240"/>
            <a:ext cx="2027555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SCID =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AF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RF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</a:p>
        </p:txBody>
      </p:sp>
      <p:graphicFrame>
        <p:nvGraphicFramePr>
          <p:cNvPr id="8" name="对象 7"/>
          <p:cNvGraphicFramePr/>
          <p:nvPr/>
        </p:nvGraphicFramePr>
        <p:xfrm>
          <a:off x="653733" y="3894138"/>
          <a:ext cx="4824730" cy="410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993900" imgH="266700" progId="Equation.KSEE3">
                  <p:embed/>
                </p:oleObj>
              </mc:Choice>
              <mc:Fallback>
                <p:oleObj r:id="rId3" imgW="1993900" imgH="266700" progId="Equation.KSEE3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3733" y="3894138"/>
                        <a:ext cx="4824730" cy="410845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734695" y="4963160"/>
            <a:ext cx="2773045" cy="645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/>
              <a:t>用户输入自己</a:t>
            </a:r>
            <a:r>
              <a:rPr lang="zh-CN" altLang="en-US">
                <a:solidFill>
                  <a:schemeClr val="tx1"/>
                </a:solidFill>
              </a:rPr>
              <a:t>身份标识</a:t>
            </a:r>
            <a:r>
              <a:rPr lang="en-US" altLang="zh-CN">
                <a:solidFill>
                  <a:schemeClr val="tx1"/>
                </a:solidFill>
              </a:rPr>
              <a:t>ID,</a:t>
            </a:r>
          </a:p>
          <a:p>
            <a:r>
              <a:rPr lang="zh-CN" altLang="en-US">
                <a:solidFill>
                  <a:schemeClr val="tx1"/>
                </a:solidFill>
              </a:rPr>
              <a:t>不可改变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464050" y="4963160"/>
            <a:ext cx="3362960" cy="9220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/>
              <a:t>pk</a:t>
            </a:r>
            <a:r>
              <a:rPr lang="en-US" altLang="zh-CN" baseline="-25000"/>
              <a:t>ap</a:t>
            </a:r>
            <a:r>
              <a:rPr lang="zh-CN" altLang="en-US"/>
              <a:t>为</a:t>
            </a:r>
            <a:r>
              <a:rPr lang="en-US" altLang="zh-CN"/>
              <a:t>AP</a:t>
            </a:r>
            <a:r>
              <a:rPr lang="zh-CN" altLang="en-US"/>
              <a:t>公钥，</a:t>
            </a:r>
            <a:endParaRPr lang="en-US" altLang="zh-CN"/>
          </a:p>
          <a:p>
            <a:r>
              <a:rPr lang="en-US" altLang="zh-CN"/>
              <a:t>AP</a:t>
            </a:r>
            <a:r>
              <a:rPr lang="zh-CN" altLang="en-US"/>
              <a:t>输入该用户的智能体自定义模块信息的哈希链</a:t>
            </a:r>
            <a:r>
              <a:rPr lang="en-US" altLang="zh-CN"/>
              <a:t>CMI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8749030" y="4963160"/>
            <a:ext cx="2343150" cy="660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CN"/>
              <a:t>pk</a:t>
            </a:r>
            <a:r>
              <a:rPr lang="en-US" altLang="zh-CN" baseline="-25000"/>
              <a:t>tp</a:t>
            </a:r>
            <a:r>
              <a:rPr lang="zh-CN" altLang="en-US"/>
              <a:t>为</a:t>
            </a:r>
            <a:r>
              <a:rPr lang="en-US" altLang="zh-CN"/>
              <a:t>TP</a:t>
            </a:r>
            <a:r>
              <a:rPr lang="zh-CN" altLang="en-US"/>
              <a:t>公钥，</a:t>
            </a:r>
            <a:endParaRPr lang="en-US" altLang="zh-CN"/>
          </a:p>
          <a:p>
            <a:r>
              <a:rPr lang="en-US" altLang="zh-CN"/>
              <a:t>TP</a:t>
            </a:r>
            <a:r>
              <a:rPr lang="zh-CN" altLang="en-US"/>
              <a:t>输入</a:t>
            </a:r>
            <a:r>
              <a:rPr lang="en-US" altLang="zh-CN"/>
              <a:t>CRF</a:t>
            </a:r>
          </a:p>
        </p:txBody>
      </p:sp>
      <p:cxnSp>
        <p:nvCxnSpPr>
          <p:cNvPr id="15" name="直接箭头连接符 14"/>
          <p:cNvCxnSpPr/>
          <p:nvPr/>
        </p:nvCxnSpPr>
        <p:spPr>
          <a:xfrm flipH="1">
            <a:off x="1284605" y="2320925"/>
            <a:ext cx="1203325" cy="54356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1308100" y="3454400"/>
            <a:ext cx="7620" cy="4502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endCxn id="10" idx="0"/>
          </p:cNvCxnSpPr>
          <p:nvPr/>
        </p:nvCxnSpPr>
        <p:spPr>
          <a:xfrm flipH="1">
            <a:off x="2121535" y="4495165"/>
            <a:ext cx="48260" cy="4679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3047365" y="4456430"/>
            <a:ext cx="2686685" cy="4889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4266565" y="4440555"/>
            <a:ext cx="4620895" cy="4794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6802120" y="833755"/>
            <a:ext cx="4940300" cy="175323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DID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结构解释：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did:wba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是每个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DID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都有的标识</a:t>
            </a:r>
          </a:p>
          <a:p>
            <a:pPr>
              <a:lnSpc>
                <a:spcPct val="150000"/>
              </a:lnSpc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SCID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是用户自主生成的自认证标识符，</a:t>
            </a:r>
          </a:p>
          <a:p>
            <a:pPr>
              <a:lnSpc>
                <a:spcPct val="150000"/>
              </a:lnSpc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domain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did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对应的域名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6802120" y="2794000"/>
            <a:ext cx="4940935" cy="184086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/>
              <a:t>SCID</a:t>
            </a:r>
            <a:r>
              <a:rPr lang="zh-CN" altLang="en-US"/>
              <a:t>结构解释：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/>
              <a:t>AF</a:t>
            </a:r>
            <a:r>
              <a:rPr lang="zh-CN" altLang="en-US"/>
              <a:t>是本方案定义的一个变色龙哈希结构，可以将用户标识，智能体信息，监管因子绑定到一个哈希值中；</a:t>
            </a:r>
            <a:r>
              <a:rPr lang="en-US" altLang="zh-CN"/>
              <a:t>RF</a:t>
            </a:r>
            <a:r>
              <a:rPr lang="zh-CN" altLang="en-US"/>
              <a:t>是监管因子，用于</a:t>
            </a:r>
            <a:r>
              <a:rPr lang="en-US" altLang="zh-CN"/>
              <a:t>TP</a:t>
            </a:r>
            <a:r>
              <a:rPr lang="zh-CN" altLang="en-US"/>
              <a:t>揭露身份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0" grpId="0" bldLvl="0" animBg="1"/>
      <p:bldP spid="10" grpId="1" animBg="1"/>
      <p:bldP spid="11" grpId="0" bldLvl="0" animBg="1"/>
      <p:bldP spid="11" grpId="1" animBg="1"/>
      <p:bldP spid="13" grpId="0" bldLvl="0" animBg="1"/>
      <p:bldP spid="13" grpId="1" animBg="1"/>
      <p:bldP spid="21" grpId="0" animBg="1"/>
      <p:bldP spid="21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"/>
            <a:ext cx="1598613" cy="57150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644650" y="1"/>
            <a:ext cx="358775" cy="5715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38350" y="-50800"/>
            <a:ext cx="234950" cy="61153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-49213" y="571501"/>
            <a:ext cx="12290425" cy="0"/>
          </a:xfrm>
          <a:prstGeom prst="line">
            <a:avLst/>
          </a:prstGeom>
          <a:ln w="38100" cmpd="sng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683260" y="622300"/>
            <a:ext cx="9866630" cy="6739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user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公私钥对（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sk</a:t>
            </a:r>
            <a:r>
              <a:rPr lang="en-US" altLang="zh-CN" baseline="-25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pk</a:t>
            </a:r>
            <a:r>
              <a:rPr lang="en-US" altLang="zh-CN" baseline="-25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=g^sk</a:t>
            </a:r>
            <a:r>
              <a:rPr lang="en-US" altLang="zh-CN" baseline="-25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AP</a:t>
            </a:r>
          </a:p>
          <a:p>
            <a:pPr>
              <a:lnSpc>
                <a:spcPct val="150000"/>
              </a:lnSpc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公私钥对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(sk</a:t>
            </a:r>
            <a:r>
              <a:rPr lang="en-US" altLang="zh-CN" baseline="-25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ap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pk</a:t>
            </a:r>
            <a:r>
              <a:rPr lang="en-US" altLang="zh-CN" baseline="-25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ap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=g^sk</a:t>
            </a:r>
            <a:r>
              <a:rPr lang="en-US" altLang="zh-CN" baseline="-25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ap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，变色龙哈希公钥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cpk</a:t>
            </a:r>
            <a:r>
              <a:rPr lang="en-US" altLang="zh-CN" baseline="-25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ap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=sk</a:t>
            </a:r>
            <a:r>
              <a:rPr lang="en-US" altLang="zh-CN" baseline="-25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ap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·G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</a:p>
          <a:p>
            <a:pPr>
              <a:lnSpc>
                <a:spcPct val="150000"/>
              </a:lnSpc>
            </a:pP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TP</a:t>
            </a:r>
          </a:p>
          <a:p>
            <a:pPr>
              <a:lnSpc>
                <a:spcPct val="150000"/>
              </a:lnSpc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公私钥对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(sk</a:t>
            </a:r>
            <a:r>
              <a:rPr lang="en-US" altLang="zh-CN" baseline="-25000">
                <a:latin typeface="微软雅黑" panose="020B0503020204020204" charset="-122"/>
                <a:ea typeface="微软雅黑" panose="020B0503020204020204" charset="-122"/>
              </a:rPr>
              <a:t>tp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pk</a:t>
            </a:r>
            <a:r>
              <a:rPr lang="en-US" altLang="zh-CN" baseline="-25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tp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g^sk</a:t>
            </a:r>
            <a:r>
              <a:rPr lang="en-US" altLang="zh-CN" baseline="-25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tp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，变色龙哈希公钥公钥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cpk</a:t>
            </a:r>
            <a:r>
              <a:rPr lang="en-US" altLang="zh-CN" baseline="-25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tp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=sk</a:t>
            </a:r>
            <a:r>
              <a:rPr lang="en-US" altLang="zh-CN" baseline="-25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tp</a:t>
            </a:r>
            <a:r>
              <a:rPr lang="en-US" altLang="zh-CN" b="1">
                <a:sym typeface="+mn-ea"/>
              </a:rPr>
              <a:t>·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G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；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paillier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私钥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λ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，公钥（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g</a:t>
            </a:r>
            <a:r>
              <a:rPr lang="en-US" altLang="zh-CN" baseline="-25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（假设三个实体均拥有其他实体的公钥）</a:t>
            </a:r>
          </a:p>
          <a:p>
            <a:pPr>
              <a:lnSpc>
                <a:spcPct val="150000"/>
              </a:lnSpc>
            </a:pPr>
            <a:endParaRPr lang="en-US" altLang="zh-CN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ID: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用户身份标识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TPID: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TP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的身份标识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BI: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生物特征识别信息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PII: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个人身份识别信息</a:t>
            </a:r>
          </a:p>
          <a:p>
            <a:pPr>
              <a:lnSpc>
                <a:spcPct val="150000"/>
              </a:lnSpc>
            </a:pPr>
            <a:r>
              <a:rPr lang="en-US" altLang="zh-CN" b="1">
                <a:sym typeface="+mn-ea"/>
              </a:rPr>
              <a:t>AF:</a:t>
            </a:r>
            <a:r>
              <a:rPr lang="zh-CN" altLang="en-US">
                <a:sym typeface="+mn-ea"/>
              </a:rPr>
              <a:t>自定义的变色龙哈希结构，用于身份锚定</a:t>
            </a:r>
          </a:p>
          <a:p>
            <a:pPr>
              <a:lnSpc>
                <a:spcPct val="150000"/>
              </a:lnSpc>
            </a:pPr>
            <a:r>
              <a:rPr lang="en-US" altLang="zh-CN" b="1">
                <a:sym typeface="+mn-ea"/>
              </a:rPr>
              <a:t>RF:</a:t>
            </a:r>
            <a:r>
              <a:rPr lang="zh-CN" altLang="en-US">
                <a:sym typeface="+mn-ea"/>
              </a:rPr>
              <a:t>监管因子，用于身份揭露</a:t>
            </a:r>
            <a:endParaRPr lang="zh-CN" altLang="en-US"/>
          </a:p>
          <a:p>
            <a:pPr>
              <a:lnSpc>
                <a:spcPct val="150000"/>
              </a:lnSpc>
            </a:pPr>
            <a:endParaRPr lang="en-US" altLang="zh-CN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2461260" y="60325"/>
            <a:ext cx="93332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系统参数介绍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686425" y="3935730"/>
            <a:ext cx="603186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b="1"/>
              <a:t>CM:</a:t>
            </a:r>
            <a:r>
              <a:rPr lang="zh-CN" altLang="en-US"/>
              <a:t>智能体不同模块的序号与功能描述</a:t>
            </a:r>
          </a:p>
          <a:p>
            <a:pPr indent="457200">
              <a:lnSpc>
                <a:spcPct val="150000"/>
              </a:lnSpc>
            </a:pPr>
            <a:r>
              <a:rPr lang="en-US" altLang="zh-CN" b="1"/>
              <a:t>CMC:</a:t>
            </a:r>
            <a:r>
              <a:rPr lang="zh-CN" altLang="en-US"/>
              <a:t>智能体模块的具体代码</a:t>
            </a:r>
            <a:endParaRPr lang="en-US" altLang="zh-CN"/>
          </a:p>
          <a:p>
            <a:pPr indent="457200">
              <a:lnSpc>
                <a:spcPct val="150000"/>
              </a:lnSpc>
            </a:pPr>
            <a:r>
              <a:rPr lang="en-US" altLang="zh-CN" b="1"/>
              <a:t>CCH:</a:t>
            </a:r>
            <a:r>
              <a:rPr lang="zh-CN" altLang="en-US"/>
              <a:t>自定义的变色龙哈希算法</a:t>
            </a:r>
          </a:p>
          <a:p>
            <a:pPr indent="457200">
              <a:lnSpc>
                <a:spcPct val="150000"/>
              </a:lnSpc>
            </a:pPr>
            <a:r>
              <a:rPr lang="en-US" altLang="zh-CN" b="1"/>
              <a:t>CH:</a:t>
            </a:r>
            <a:r>
              <a:rPr lang="zh-CN" altLang="en-US"/>
              <a:t>标准的变色龙哈希算法</a:t>
            </a:r>
          </a:p>
          <a:p>
            <a:pPr indent="457200">
              <a:lnSpc>
                <a:spcPct val="150000"/>
              </a:lnSpc>
            </a:pPr>
            <a:r>
              <a:rPr lang="en-US" altLang="zh-CN" b="1"/>
              <a:t>PAGen</a:t>
            </a:r>
            <a:r>
              <a:rPr lang="zh-CN" altLang="en-US" b="1"/>
              <a:t>：</a:t>
            </a:r>
            <a:r>
              <a:rPr lang="zh-CN" altLang="en-US"/>
              <a:t>根据</a:t>
            </a:r>
            <a:r>
              <a:rPr lang="en-US" altLang="zh-CN"/>
              <a:t>CMC</a:t>
            </a:r>
            <a:r>
              <a:rPr lang="zh-CN" altLang="en-US"/>
              <a:t>生成智能体的算法</a:t>
            </a:r>
          </a:p>
          <a:p>
            <a:pPr indent="457200">
              <a:lnSpc>
                <a:spcPct val="150000"/>
              </a:lnSpc>
            </a:pPr>
            <a:r>
              <a:rPr lang="en-US" altLang="zh-CN" b="1">
                <a:sym typeface="+mn-ea"/>
              </a:rPr>
              <a:t>HCGen</a:t>
            </a:r>
            <a:r>
              <a:rPr lang="zh-CN" altLang="en-US" b="1">
                <a:sym typeface="+mn-ea"/>
              </a:rPr>
              <a:t>：</a:t>
            </a:r>
            <a:r>
              <a:rPr lang="zh-CN" altLang="en-US">
                <a:sym typeface="+mn-ea"/>
              </a:rPr>
              <a:t>哈希链生成算法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313055"/>
            <a:ext cx="10242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</a:rPr>
              <a:t>user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514340" y="314960"/>
            <a:ext cx="10242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</a:rPr>
              <a:t>TP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9801225" y="330200"/>
            <a:ext cx="106997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b="1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IPFS</a:t>
            </a: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710565" y="2157730"/>
            <a:ext cx="5238115" cy="120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15" name="对象 14"/>
          <p:cNvGraphicFramePr/>
          <p:nvPr/>
        </p:nvGraphicFramePr>
        <p:xfrm>
          <a:off x="536893" y="1010285"/>
          <a:ext cx="3353435" cy="583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752600" imgH="482600" progId="Equation.KSEE3">
                  <p:embed/>
                </p:oleObj>
              </mc:Choice>
              <mc:Fallback>
                <p:oleObj r:id="rId3" imgW="1752600" imgH="482600" progId="Equation.KSEE3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6893" y="1010285"/>
                        <a:ext cx="3353435" cy="583565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/>
          <p:nvPr/>
        </p:nvGraphicFramePr>
        <p:xfrm>
          <a:off x="182563" y="1759904"/>
          <a:ext cx="6068695" cy="291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708400" imgH="254000" progId="Equation.KSEE3">
                  <p:embed/>
                </p:oleObj>
              </mc:Choice>
              <mc:Fallback>
                <p:oleObj r:id="rId5" imgW="3708400" imgH="254000" progId="Equation.KSEE3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2563" y="1759904"/>
                        <a:ext cx="6068695" cy="291465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0" name="直接箭头连接符 29"/>
          <p:cNvCxnSpPr/>
          <p:nvPr/>
        </p:nvCxnSpPr>
        <p:spPr>
          <a:xfrm>
            <a:off x="5878195" y="3669665"/>
            <a:ext cx="488124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32" name="对象 31"/>
          <p:cNvGraphicFramePr/>
          <p:nvPr/>
        </p:nvGraphicFramePr>
        <p:xfrm>
          <a:off x="6795770" y="3408045"/>
          <a:ext cx="852170" cy="207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508000" imgH="177165" progId="Equation.KSEE3">
                  <p:embed/>
                </p:oleObj>
              </mc:Choice>
              <mc:Fallback>
                <p:oleObj r:id="rId7" imgW="508000" imgH="177165" progId="Equation.KSEE3">
                  <p:embed/>
                  <p:pic>
                    <p:nvPicPr>
                      <p:cNvPr id="0" name="图片 2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795770" y="3408045"/>
                        <a:ext cx="852170" cy="2076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0" name="直接箭头连接符 39"/>
          <p:cNvCxnSpPr/>
          <p:nvPr/>
        </p:nvCxnSpPr>
        <p:spPr>
          <a:xfrm flipH="1" flipV="1">
            <a:off x="248285" y="4629150"/>
            <a:ext cx="5427980" cy="63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515620" y="323215"/>
            <a:ext cx="1072451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554990" y="662940"/>
            <a:ext cx="1072451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206375" y="967105"/>
            <a:ext cx="39243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①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70485" y="1298575"/>
            <a:ext cx="50609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②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5814695" y="847090"/>
            <a:ext cx="57658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 ③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6202680" y="3365500"/>
            <a:ext cx="475615" cy="3276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/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④ 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6202680" y="3619500"/>
            <a:ext cx="53657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⑤ 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319405" y="3648075"/>
            <a:ext cx="443865" cy="32702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/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⑥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5628005" y="4041775"/>
            <a:ext cx="39306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⑦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11574780" y="-460375"/>
            <a:ext cx="93332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user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TP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请求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PHC</a:t>
            </a:r>
          </a:p>
        </p:txBody>
      </p:sp>
      <p:graphicFrame>
        <p:nvGraphicFramePr>
          <p:cNvPr id="3" name="对象 2"/>
          <p:cNvGraphicFramePr/>
          <p:nvPr/>
        </p:nvGraphicFramePr>
        <p:xfrm>
          <a:off x="6469063" y="695008"/>
          <a:ext cx="4810125" cy="2602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3568700" imgH="2336800" progId="Equation.KSEE3">
                  <p:embed/>
                </p:oleObj>
              </mc:Choice>
              <mc:Fallback>
                <p:oleObj r:id="rId9" imgW="3568700" imgH="2336800" progId="Equation.KSEE3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469063" y="695008"/>
                        <a:ext cx="4810125" cy="2602230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/>
          <p:nvPr/>
        </p:nvGraphicFramePr>
        <p:xfrm>
          <a:off x="6156960" y="4011931"/>
          <a:ext cx="5838825" cy="2851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3416300" imgH="2755900" progId="Equation.KSEE3">
                  <p:embed/>
                </p:oleObj>
              </mc:Choice>
              <mc:Fallback>
                <p:oleObj r:id="rId11" imgW="3416300" imgH="2755900" progId="Equation.KSEE3">
                  <p:embed/>
                  <p:pic>
                    <p:nvPicPr>
                      <p:cNvPr id="0" name="图片 1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156960" y="4011931"/>
                        <a:ext cx="5838825" cy="2851785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直接箭头连接符 9"/>
          <p:cNvCxnSpPr/>
          <p:nvPr/>
        </p:nvCxnSpPr>
        <p:spPr>
          <a:xfrm flipH="1" flipV="1">
            <a:off x="5948680" y="3938270"/>
            <a:ext cx="4810760" cy="57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17" name="对象 16"/>
          <p:cNvGraphicFramePr/>
          <p:nvPr/>
        </p:nvGraphicFramePr>
        <p:xfrm>
          <a:off x="6795770" y="3743325"/>
          <a:ext cx="511175" cy="194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304800" imgH="177165" progId="Equation.KSEE3">
                  <p:embed/>
                </p:oleObj>
              </mc:Choice>
              <mc:Fallback>
                <p:oleObj r:id="rId13" imgW="304800" imgH="177165" progId="Equation.KSEE3">
                  <p:embed/>
                  <p:pic>
                    <p:nvPicPr>
                      <p:cNvPr id="0" name="图片 2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795770" y="3743325"/>
                        <a:ext cx="511175" cy="1949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/>
          <p:nvPr/>
        </p:nvGraphicFramePr>
        <p:xfrm>
          <a:off x="576263" y="4824095"/>
          <a:ext cx="4094480" cy="1925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2590800" imgH="1841500" progId="Equation.KSEE3">
                  <p:embed/>
                </p:oleObj>
              </mc:Choice>
              <mc:Fallback>
                <p:oleObj r:id="rId15" imgW="2590800" imgH="1841500" progId="Equation.KSEE3">
                  <p:embed/>
                  <p:pic>
                    <p:nvPicPr>
                      <p:cNvPr id="0" name="图片 2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76263" y="4824095"/>
                        <a:ext cx="4094480" cy="1925320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8"/>
          <p:cNvSpPr txBox="1"/>
          <p:nvPr/>
        </p:nvSpPr>
        <p:spPr>
          <a:xfrm>
            <a:off x="122555" y="5453380"/>
            <a:ext cx="64071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⑧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3905885" y="-85725"/>
            <a:ext cx="37903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user</a:t>
            </a:r>
            <a:r>
              <a:rPr lang="zh-CN" altLang="en-US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请求</a:t>
            </a:r>
            <a:r>
              <a:rPr lang="en-US" altLang="zh-CN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PHC</a:t>
            </a:r>
          </a:p>
        </p:txBody>
      </p:sp>
      <p:graphicFrame>
        <p:nvGraphicFramePr>
          <p:cNvPr id="2" name="对象 1"/>
          <p:cNvGraphicFramePr/>
          <p:nvPr/>
        </p:nvGraphicFramePr>
        <p:xfrm>
          <a:off x="291465" y="4175760"/>
          <a:ext cx="3614420" cy="315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2400300" imgH="254000" progId="Equation.KSEE3">
                  <p:embed/>
                </p:oleObj>
              </mc:Choice>
              <mc:Fallback>
                <p:oleObj r:id="rId17" imgW="2400300" imgH="254000" progId="Equation.KSEE3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91465" y="4175760"/>
                        <a:ext cx="3614420" cy="315595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374265" y="2317750"/>
            <a:ext cx="29121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签名与加密区别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2" grpId="1"/>
      <p:bldP spid="53" grpId="0"/>
      <p:bldP spid="53" grpId="1"/>
      <p:bldP spid="54" grpId="0"/>
      <p:bldP spid="54" grpId="1"/>
      <p:bldP spid="55" grpId="0"/>
      <p:bldP spid="55" grpId="1"/>
      <p:bldP spid="56" grpId="0"/>
      <p:bldP spid="56" grpId="1"/>
      <p:bldP spid="57" grpId="0"/>
      <p:bldP spid="57" grpId="1"/>
      <p:bldP spid="29" grpId="0"/>
      <p:bldP spid="29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592705" y="318770"/>
            <a:ext cx="10242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</a:rPr>
              <a:t>user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389620" y="318770"/>
            <a:ext cx="18034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b="1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AP</a:t>
            </a:r>
          </a:p>
        </p:txBody>
      </p:sp>
      <p:cxnSp>
        <p:nvCxnSpPr>
          <p:cNvPr id="24" name="直接箭头连接符 23"/>
          <p:cNvCxnSpPr/>
          <p:nvPr/>
        </p:nvCxnSpPr>
        <p:spPr>
          <a:xfrm>
            <a:off x="636270" y="1325880"/>
            <a:ext cx="5601335" cy="127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 flipH="1">
            <a:off x="2745740" y="3019425"/>
            <a:ext cx="3533775" cy="44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650240" y="288925"/>
            <a:ext cx="1072451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689610" y="645795"/>
            <a:ext cx="1072451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142240" y="835660"/>
            <a:ext cx="39243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①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3115945" y="4548505"/>
            <a:ext cx="57658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 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142240" y="2311400"/>
            <a:ext cx="47561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④ </a:t>
            </a:r>
          </a:p>
        </p:txBody>
      </p:sp>
      <p:graphicFrame>
        <p:nvGraphicFramePr>
          <p:cNvPr id="14" name="对象 13"/>
          <p:cNvGraphicFramePr/>
          <p:nvPr/>
        </p:nvGraphicFramePr>
        <p:xfrm>
          <a:off x="6477635" y="3107055"/>
          <a:ext cx="5665470" cy="3686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797300" imgH="2959100" progId="Equation.KSEE3">
                  <p:embed/>
                </p:oleObj>
              </mc:Choice>
              <mc:Fallback>
                <p:oleObj r:id="rId3" imgW="3797300" imgH="2959100" progId="Equation.KSEE3">
                  <p:embed/>
                  <p:pic>
                    <p:nvPicPr>
                      <p:cNvPr id="0" name="图片 2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77635" y="3107055"/>
                        <a:ext cx="5665470" cy="3686810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/>
          <p:nvPr/>
        </p:nvGraphicFramePr>
        <p:xfrm>
          <a:off x="7309169" y="807403"/>
          <a:ext cx="4511040" cy="188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781300" imgH="1498600" progId="Equation.KSEE3">
                  <p:embed/>
                </p:oleObj>
              </mc:Choice>
              <mc:Fallback>
                <p:oleObj r:id="rId5" imgW="2781300" imgH="1498600" progId="Equation.KSEE3">
                  <p:embed/>
                  <p:pic>
                    <p:nvPicPr>
                      <p:cNvPr id="0" name="图片 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09169" y="807403"/>
                        <a:ext cx="4511040" cy="1889125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30"/>
          <p:cNvSpPr txBox="1"/>
          <p:nvPr/>
        </p:nvSpPr>
        <p:spPr>
          <a:xfrm>
            <a:off x="6898640" y="703580"/>
            <a:ext cx="410845" cy="362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>
                <a:solidFill>
                  <a:srgbClr val="191B1F"/>
                </a:solidFill>
                <a:latin typeface="Times New Roman" panose="02020603050405020304" charset="0"/>
                <a:ea typeface="-apple-system"/>
                <a:cs typeface="Times New Roman" panose="02020603050405020304" charset="0"/>
                <a:sym typeface="+mn-ea"/>
              </a:rPr>
              <a:t>② 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42" name="对象 41"/>
          <p:cNvGraphicFramePr/>
          <p:nvPr/>
        </p:nvGraphicFramePr>
        <p:xfrm>
          <a:off x="899795" y="835660"/>
          <a:ext cx="3211195" cy="367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120900" imgH="254000" progId="Equation.KSEE3">
                  <p:embed/>
                </p:oleObj>
              </mc:Choice>
              <mc:Fallback>
                <p:oleObj r:id="rId7" imgW="2120900" imgH="254000" progId="Equation.KSEE3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99795" y="835660"/>
                        <a:ext cx="3211195" cy="3670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/>
          <p:nvPr/>
        </p:nvGraphicFramePr>
        <p:xfrm>
          <a:off x="3058795" y="2560320"/>
          <a:ext cx="157226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927100" imgH="241300" progId="Equation.KSEE3">
                  <p:embed/>
                </p:oleObj>
              </mc:Choice>
              <mc:Fallback>
                <p:oleObj r:id="rId9" imgW="927100" imgH="241300" progId="Equation.KSEE3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58795" y="2560320"/>
                        <a:ext cx="1572260" cy="288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8" name="直接箭头连接符 17"/>
          <p:cNvCxnSpPr/>
          <p:nvPr/>
        </p:nvCxnSpPr>
        <p:spPr>
          <a:xfrm>
            <a:off x="2568575" y="3451860"/>
            <a:ext cx="354520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2672715" y="2550795"/>
            <a:ext cx="614680" cy="2946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>
                <a:solidFill>
                  <a:srgbClr val="191B1F"/>
                </a:solidFill>
                <a:latin typeface="Times New Roman" panose="02020603050405020304" charset="0"/>
                <a:ea typeface="-apple-system"/>
                <a:cs typeface="Times New Roman" panose="02020603050405020304" charset="0"/>
                <a:sym typeface="+mn-ea"/>
              </a:rPr>
              <a:t>③</a:t>
            </a:r>
          </a:p>
        </p:txBody>
      </p:sp>
      <p:graphicFrame>
        <p:nvGraphicFramePr>
          <p:cNvPr id="22" name="对象 21"/>
          <p:cNvGraphicFramePr/>
          <p:nvPr/>
        </p:nvGraphicFramePr>
        <p:xfrm>
          <a:off x="2849245" y="3075305"/>
          <a:ext cx="2369820" cy="356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422400" imgH="279400" progId="Equation.KSEE3">
                  <p:embed/>
                </p:oleObj>
              </mc:Choice>
              <mc:Fallback>
                <p:oleObj r:id="rId11" imgW="1422400" imgH="279400" progId="Equation.KSEE3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849245" y="3075305"/>
                        <a:ext cx="2369820" cy="3562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7" name="直接箭头连接符 26"/>
          <p:cNvCxnSpPr/>
          <p:nvPr/>
        </p:nvCxnSpPr>
        <p:spPr>
          <a:xfrm flipH="1">
            <a:off x="1885315" y="4107180"/>
            <a:ext cx="435229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28" name="对象 27"/>
          <p:cNvGraphicFramePr/>
          <p:nvPr/>
        </p:nvGraphicFramePr>
        <p:xfrm>
          <a:off x="1644968" y="3798253"/>
          <a:ext cx="3712845" cy="308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2260600" imgH="241300" progId="Equation.KSEE3">
                  <p:embed/>
                </p:oleObj>
              </mc:Choice>
              <mc:Fallback>
                <p:oleObj r:id="rId13" imgW="2260600" imgH="241300" progId="Equation.KSEE3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644968" y="3798253"/>
                        <a:ext cx="3712845" cy="3086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文本框 55"/>
          <p:cNvSpPr txBox="1"/>
          <p:nvPr/>
        </p:nvSpPr>
        <p:spPr>
          <a:xfrm>
            <a:off x="6362065" y="2784475"/>
            <a:ext cx="44386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⑥</a:t>
            </a:r>
          </a:p>
        </p:txBody>
      </p:sp>
      <p:graphicFrame>
        <p:nvGraphicFramePr>
          <p:cNvPr id="3" name="对象 2"/>
          <p:cNvGraphicFramePr/>
          <p:nvPr/>
        </p:nvGraphicFramePr>
        <p:xfrm>
          <a:off x="57150" y="4607560"/>
          <a:ext cx="5316855" cy="1965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3429000" imgH="1524000" progId="Equation.KSEE3">
                  <p:embed/>
                </p:oleObj>
              </mc:Choice>
              <mc:Fallback>
                <p:oleObj r:id="rId15" imgW="3429000" imgH="1524000" progId="Equation.KSEE3">
                  <p:embed/>
                  <p:pic>
                    <p:nvPicPr>
                      <p:cNvPr id="0" name="图片 2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7150" y="4607560"/>
                        <a:ext cx="5316855" cy="1965960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文本框 56"/>
          <p:cNvSpPr txBox="1"/>
          <p:nvPr/>
        </p:nvSpPr>
        <p:spPr>
          <a:xfrm>
            <a:off x="1303655" y="3798570"/>
            <a:ext cx="341630" cy="3670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/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⑦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9755505" y="7857490"/>
            <a:ext cx="2145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先验证</a:t>
            </a:r>
            <a:r>
              <a:rPr lang="en-US" altLang="zh-CN"/>
              <a:t>phc</a:t>
            </a:r>
            <a:r>
              <a:rPr lang="zh-CN" altLang="en-US"/>
              <a:t>和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650365" y="7719060"/>
            <a:ext cx="24606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cm</a:t>
            </a:r>
            <a:r>
              <a:rPr lang="zh-CN" altLang="en-US"/>
              <a:t>细化，向量，</a:t>
            </a:r>
            <a:r>
              <a:rPr lang="en-US" altLang="zh-CN"/>
              <a:t>3</a:t>
            </a:r>
            <a:r>
              <a:rPr lang="zh-CN" altLang="en-US"/>
              <a:t>是矩阵，</a:t>
            </a:r>
            <a:r>
              <a:rPr lang="en-US" altLang="zh-CN"/>
              <a:t>4</a:t>
            </a:r>
            <a:r>
              <a:rPr lang="zh-CN" altLang="en-US"/>
              <a:t>是一个向量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546860" y="7073900"/>
            <a:ext cx="37522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哈希模式设计，支撑构建</a:t>
            </a:r>
          </a:p>
          <a:p>
            <a:r>
              <a:rPr lang="zh-CN" altLang="en-US"/>
              <a:t>最后生成</a:t>
            </a:r>
            <a:r>
              <a:rPr lang="en-US" altLang="zh-CN"/>
              <a:t>PA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57150" y="751014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仅用户可以验证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3905885" y="-85725"/>
            <a:ext cx="37903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user</a:t>
            </a:r>
            <a:r>
              <a:rPr lang="zh-CN" altLang="en-US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请求</a:t>
            </a:r>
            <a:r>
              <a:rPr lang="en-US" altLang="zh-CN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PA</a:t>
            </a:r>
          </a:p>
        </p:txBody>
      </p:sp>
      <p:graphicFrame>
        <p:nvGraphicFramePr>
          <p:cNvPr id="2" name="对象 1"/>
          <p:cNvGraphicFramePr/>
          <p:nvPr/>
        </p:nvGraphicFramePr>
        <p:xfrm>
          <a:off x="142240" y="2753995"/>
          <a:ext cx="2413000" cy="645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2019300" imgH="533400" progId="Equation.KSEE3">
                  <p:embed/>
                </p:oleObj>
              </mc:Choice>
              <mc:Fallback>
                <p:oleObj r:id="rId17" imgW="2019300" imgH="533400" progId="Equation.KSEE3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42240" y="2753995"/>
                        <a:ext cx="2413000" cy="645160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文本框 67"/>
          <p:cNvSpPr txBox="1"/>
          <p:nvPr/>
        </p:nvSpPr>
        <p:spPr>
          <a:xfrm>
            <a:off x="2522220" y="3121660"/>
            <a:ext cx="53657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⑤ 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68605" y="4165600"/>
            <a:ext cx="34925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1" grpId="1"/>
      <p:bldP spid="53" grpId="0"/>
      <p:bldP spid="53" grpId="1"/>
      <p:bldP spid="54" grpId="0"/>
      <p:bldP spid="54" grpId="1"/>
      <p:bldP spid="31" grpId="0"/>
      <p:bldP spid="31" grpId="1"/>
      <p:bldP spid="19" grpId="0"/>
      <p:bldP spid="19" grpId="1"/>
      <p:bldP spid="56" grpId="0"/>
      <p:bldP spid="56" grpId="1"/>
      <p:bldP spid="57" grpId="0"/>
      <p:bldP spid="57" grpId="1"/>
      <p:bldP spid="68" grpId="0"/>
      <p:bldP spid="68" grpId="1"/>
      <p:bldP spid="11" grpId="0"/>
      <p:bldP spid="11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068705" y="454025"/>
            <a:ext cx="10242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</a:rPr>
              <a:t>user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874000" y="454025"/>
            <a:ext cx="18034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b="1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AP</a:t>
            </a:r>
          </a:p>
        </p:txBody>
      </p:sp>
      <p:cxnSp>
        <p:nvCxnSpPr>
          <p:cNvPr id="44" name="直接连接符 43"/>
          <p:cNvCxnSpPr/>
          <p:nvPr/>
        </p:nvCxnSpPr>
        <p:spPr>
          <a:xfrm>
            <a:off x="403860" y="410845"/>
            <a:ext cx="1072451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443230" y="784860"/>
            <a:ext cx="1072451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9755505" y="7857490"/>
            <a:ext cx="2145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先验证</a:t>
            </a:r>
            <a:r>
              <a:rPr lang="en-US" altLang="zh-CN"/>
              <a:t>phc</a:t>
            </a:r>
            <a:r>
              <a:rPr lang="zh-CN" altLang="en-US"/>
              <a:t>和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650365" y="7719060"/>
            <a:ext cx="24606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cm</a:t>
            </a:r>
            <a:r>
              <a:rPr lang="zh-CN" altLang="en-US"/>
              <a:t>细化，向量，</a:t>
            </a:r>
            <a:r>
              <a:rPr lang="en-US" altLang="zh-CN"/>
              <a:t>3</a:t>
            </a:r>
            <a:r>
              <a:rPr lang="zh-CN" altLang="en-US"/>
              <a:t>是矩阵，</a:t>
            </a:r>
            <a:r>
              <a:rPr lang="en-US" altLang="zh-CN"/>
              <a:t>4</a:t>
            </a:r>
            <a:r>
              <a:rPr lang="zh-CN" altLang="en-US"/>
              <a:t>是一个向量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546860" y="7073900"/>
            <a:ext cx="37522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哈希模式设计，支撑构建</a:t>
            </a:r>
          </a:p>
          <a:p>
            <a:r>
              <a:rPr lang="zh-CN" altLang="en-US"/>
              <a:t>最后生成</a:t>
            </a:r>
            <a:r>
              <a:rPr lang="en-US" altLang="zh-CN"/>
              <a:t>PA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57150" y="751014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仅用户可以验证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5372100" y="7510145"/>
            <a:ext cx="312229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PHC</a:t>
            </a:r>
            <a:r>
              <a:rPr lang="zh-CN" altLang="en-US"/>
              <a:t>与</a:t>
            </a:r>
            <a:r>
              <a:rPr lang="en-US" altLang="zh-CN"/>
              <a:t>pa</a:t>
            </a:r>
            <a:r>
              <a:rPr lang="zh-CN" altLang="en-US"/>
              <a:t>丢了怎么恢复</a:t>
            </a:r>
          </a:p>
          <a:p>
            <a:r>
              <a:rPr lang="en-US" altLang="zh-CN"/>
              <a:t>phc</a:t>
            </a:r>
            <a:r>
              <a:rPr lang="zh-CN" altLang="en-US"/>
              <a:t>丢了</a:t>
            </a:r>
          </a:p>
          <a:p>
            <a:r>
              <a:rPr lang="en-US" altLang="zh-CN"/>
              <a:t>pa</a:t>
            </a:r>
            <a:r>
              <a:rPr lang="zh-CN" altLang="en-US"/>
              <a:t>丢了</a:t>
            </a:r>
          </a:p>
          <a:p>
            <a:r>
              <a:rPr lang="en-US" altLang="zh-CN"/>
              <a:t>pa</a:t>
            </a:r>
            <a:r>
              <a:rPr lang="zh-CN" altLang="en-US"/>
              <a:t>代码更新怎么办</a:t>
            </a:r>
          </a:p>
          <a:p>
            <a:r>
              <a:rPr lang="en-US" altLang="zh-CN"/>
              <a:t>phc</a:t>
            </a:r>
            <a:r>
              <a:rPr lang="zh-CN" altLang="en-US"/>
              <a:t>关联到</a:t>
            </a:r>
            <a:r>
              <a:rPr lang="en-US" altLang="zh-CN"/>
              <a:t>pa</a:t>
            </a:r>
            <a:r>
              <a:rPr lang="zh-CN" altLang="en-US"/>
              <a:t>中</a:t>
            </a:r>
          </a:p>
        </p:txBody>
      </p:sp>
      <p:cxnSp>
        <p:nvCxnSpPr>
          <p:cNvPr id="50" name="直接箭头连接符 49"/>
          <p:cNvCxnSpPr/>
          <p:nvPr/>
        </p:nvCxnSpPr>
        <p:spPr>
          <a:xfrm flipV="1">
            <a:off x="753745" y="1573530"/>
            <a:ext cx="4347210" cy="139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52" name="对象 51"/>
          <p:cNvGraphicFramePr/>
          <p:nvPr/>
        </p:nvGraphicFramePr>
        <p:xfrm>
          <a:off x="878840" y="1158875"/>
          <a:ext cx="3430905" cy="334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108200" imgH="254000" progId="Equation.KSEE3">
                  <p:embed/>
                </p:oleObj>
              </mc:Choice>
              <mc:Fallback>
                <p:oleObj r:id="rId3" imgW="2108200" imgH="254000" progId="Equation.KSEE3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78840" y="1158875"/>
                        <a:ext cx="3430905" cy="3346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对象 58"/>
          <p:cNvGraphicFramePr/>
          <p:nvPr/>
        </p:nvGraphicFramePr>
        <p:xfrm>
          <a:off x="5735320" y="1297940"/>
          <a:ext cx="5952490" cy="2734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403600" imgH="1777365" progId="Equation.KSEE3">
                  <p:embed/>
                </p:oleObj>
              </mc:Choice>
              <mc:Fallback>
                <p:oleObj r:id="rId5" imgW="3403600" imgH="1777365" progId="Equation.KSEE3">
                  <p:embed/>
                  <p:pic>
                    <p:nvPicPr>
                      <p:cNvPr id="0" name="图片 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35320" y="1297940"/>
                        <a:ext cx="5952490" cy="2734945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" name="直接箭头连接符 1"/>
          <p:cNvCxnSpPr/>
          <p:nvPr/>
        </p:nvCxnSpPr>
        <p:spPr>
          <a:xfrm flipH="1" flipV="1">
            <a:off x="945515" y="4211955"/>
            <a:ext cx="4316095" cy="50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28" name="对象 27"/>
          <p:cNvGraphicFramePr/>
          <p:nvPr/>
        </p:nvGraphicFramePr>
        <p:xfrm>
          <a:off x="2104708" y="3830003"/>
          <a:ext cx="2045335" cy="308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244600" imgH="241300" progId="Equation.KSEE3">
                  <p:embed/>
                </p:oleObj>
              </mc:Choice>
              <mc:Fallback>
                <p:oleObj r:id="rId7" imgW="1244600" imgH="241300" progId="Equation.KSEE3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04708" y="3830003"/>
                        <a:ext cx="2045335" cy="3086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/>
          <p:nvPr/>
        </p:nvGraphicFramePr>
        <p:xfrm>
          <a:off x="739777" y="4621532"/>
          <a:ext cx="3877945" cy="1153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2501900" imgH="990600" progId="Equation.KSEE3">
                  <p:embed/>
                </p:oleObj>
              </mc:Choice>
              <mc:Fallback>
                <p:oleObj r:id="rId9" imgW="2501900" imgH="990600" progId="Equation.KSEE3">
                  <p:embed/>
                  <p:pic>
                    <p:nvPicPr>
                      <p:cNvPr id="0" name="图片 2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39777" y="4621532"/>
                        <a:ext cx="3877945" cy="1153160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110990" y="-635"/>
            <a:ext cx="37903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PA</a:t>
            </a:r>
            <a:r>
              <a:rPr lang="zh-CN" altLang="en-US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丢失，恢复</a:t>
            </a:r>
            <a:r>
              <a:rPr lang="en-US" altLang="zh-CN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PA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364490" y="1109980"/>
            <a:ext cx="39243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①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5100955" y="1075690"/>
            <a:ext cx="410845" cy="362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>
                <a:solidFill>
                  <a:srgbClr val="191B1F"/>
                </a:solidFill>
                <a:latin typeface="Times New Roman" panose="02020603050405020304" charset="0"/>
                <a:ea typeface="-apple-system"/>
                <a:cs typeface="Times New Roman" panose="02020603050405020304" charset="0"/>
                <a:sym typeface="+mn-ea"/>
              </a:rPr>
              <a:t>② 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917575" y="3792855"/>
            <a:ext cx="614680" cy="2946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>
                <a:solidFill>
                  <a:srgbClr val="191B1F"/>
                </a:solidFill>
                <a:latin typeface="Times New Roman" panose="02020603050405020304" charset="0"/>
                <a:ea typeface="-apple-system"/>
                <a:cs typeface="Times New Roman" panose="02020603050405020304" charset="0"/>
                <a:sym typeface="+mn-ea"/>
              </a:rPr>
              <a:t>③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469900" y="4217035"/>
            <a:ext cx="47561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④ 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761990" y="7424420"/>
            <a:ext cx="50634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不同方式得到的</a:t>
            </a:r>
            <a:r>
              <a:rPr lang="en-US" altLang="zh-CN"/>
              <a:t>CMI</a:t>
            </a:r>
            <a:r>
              <a:rPr lang="zh-CN" altLang="en-US"/>
              <a:t>该如何表达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4" grpId="1"/>
      <p:bldP spid="65" grpId="0"/>
      <p:bldP spid="65" grpId="1"/>
      <p:bldP spid="66" grpId="0"/>
      <p:bldP spid="66" grpId="1"/>
      <p:bldP spid="67" grpId="0"/>
      <p:bldP spid="67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068705" y="454025"/>
            <a:ext cx="10242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</a:rPr>
              <a:t>user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874000" y="454025"/>
            <a:ext cx="18034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b="1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AP</a:t>
            </a:r>
          </a:p>
        </p:txBody>
      </p:sp>
      <p:cxnSp>
        <p:nvCxnSpPr>
          <p:cNvPr id="44" name="直接连接符 43"/>
          <p:cNvCxnSpPr/>
          <p:nvPr/>
        </p:nvCxnSpPr>
        <p:spPr>
          <a:xfrm>
            <a:off x="403860" y="410845"/>
            <a:ext cx="1072451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443230" y="784860"/>
            <a:ext cx="1072451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9755505" y="7857490"/>
            <a:ext cx="2145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先验证</a:t>
            </a:r>
            <a:r>
              <a:rPr lang="en-US" altLang="zh-CN"/>
              <a:t>phc</a:t>
            </a:r>
            <a:r>
              <a:rPr lang="zh-CN" altLang="en-US"/>
              <a:t>和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650365" y="7719060"/>
            <a:ext cx="24606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cm</a:t>
            </a:r>
            <a:r>
              <a:rPr lang="zh-CN" altLang="en-US"/>
              <a:t>细化，向量，</a:t>
            </a:r>
            <a:r>
              <a:rPr lang="en-US" altLang="zh-CN"/>
              <a:t>3</a:t>
            </a:r>
            <a:r>
              <a:rPr lang="zh-CN" altLang="en-US"/>
              <a:t>是矩阵，</a:t>
            </a:r>
            <a:r>
              <a:rPr lang="en-US" altLang="zh-CN"/>
              <a:t>4</a:t>
            </a:r>
            <a:r>
              <a:rPr lang="zh-CN" altLang="en-US"/>
              <a:t>是一个向量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546860" y="7073900"/>
            <a:ext cx="37522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哈希模式设计，支撑构建</a:t>
            </a:r>
          </a:p>
          <a:p>
            <a:r>
              <a:rPr lang="zh-CN" altLang="en-US"/>
              <a:t>最后生成</a:t>
            </a:r>
            <a:r>
              <a:rPr lang="en-US" altLang="zh-CN"/>
              <a:t>PA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57150" y="751014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仅用户可以验证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5372100" y="7510145"/>
            <a:ext cx="312229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PHC</a:t>
            </a:r>
            <a:r>
              <a:rPr lang="zh-CN" altLang="en-US"/>
              <a:t>与</a:t>
            </a:r>
            <a:r>
              <a:rPr lang="en-US" altLang="zh-CN"/>
              <a:t>pa</a:t>
            </a:r>
            <a:r>
              <a:rPr lang="zh-CN" altLang="en-US"/>
              <a:t>丢了怎么恢复</a:t>
            </a:r>
          </a:p>
          <a:p>
            <a:r>
              <a:rPr lang="en-US" altLang="zh-CN"/>
              <a:t>phc</a:t>
            </a:r>
            <a:r>
              <a:rPr lang="zh-CN" altLang="en-US"/>
              <a:t>丢了</a:t>
            </a:r>
          </a:p>
          <a:p>
            <a:r>
              <a:rPr lang="en-US" altLang="zh-CN"/>
              <a:t>pa</a:t>
            </a:r>
            <a:r>
              <a:rPr lang="zh-CN" altLang="en-US"/>
              <a:t>丢了</a:t>
            </a:r>
          </a:p>
          <a:p>
            <a:r>
              <a:rPr lang="en-US" altLang="zh-CN"/>
              <a:t>pa</a:t>
            </a:r>
            <a:r>
              <a:rPr lang="zh-CN" altLang="en-US"/>
              <a:t>代码更新怎么办</a:t>
            </a:r>
          </a:p>
          <a:p>
            <a:r>
              <a:rPr lang="en-US" altLang="zh-CN"/>
              <a:t>phc</a:t>
            </a:r>
            <a:r>
              <a:rPr lang="zh-CN" altLang="en-US"/>
              <a:t>关联到</a:t>
            </a:r>
            <a:r>
              <a:rPr lang="en-US" altLang="zh-CN"/>
              <a:t>pa</a:t>
            </a:r>
            <a:r>
              <a:rPr lang="zh-CN" altLang="en-US"/>
              <a:t>中</a:t>
            </a:r>
          </a:p>
        </p:txBody>
      </p:sp>
      <p:cxnSp>
        <p:nvCxnSpPr>
          <p:cNvPr id="50" name="直接箭头连接符 49"/>
          <p:cNvCxnSpPr/>
          <p:nvPr/>
        </p:nvCxnSpPr>
        <p:spPr>
          <a:xfrm flipV="1">
            <a:off x="753745" y="1573530"/>
            <a:ext cx="4347210" cy="139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52" name="对象 51"/>
          <p:cNvGraphicFramePr/>
          <p:nvPr/>
        </p:nvGraphicFramePr>
        <p:xfrm>
          <a:off x="1227773" y="1109980"/>
          <a:ext cx="3388360" cy="334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082800" imgH="254000" progId="Equation.KSEE3">
                  <p:embed/>
                </p:oleObj>
              </mc:Choice>
              <mc:Fallback>
                <p:oleObj r:id="rId3" imgW="2082800" imgH="254000" progId="Equation.KSEE3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27773" y="1109980"/>
                        <a:ext cx="3388360" cy="3346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对象 58"/>
          <p:cNvGraphicFramePr/>
          <p:nvPr/>
        </p:nvGraphicFramePr>
        <p:xfrm>
          <a:off x="5844542" y="1035050"/>
          <a:ext cx="5393055" cy="2348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403600" imgH="1816100" progId="Equation.KSEE3">
                  <p:embed/>
                </p:oleObj>
              </mc:Choice>
              <mc:Fallback>
                <p:oleObj r:id="rId5" imgW="3403600" imgH="1816100" progId="Equation.KSEE3">
                  <p:embed/>
                  <p:pic>
                    <p:nvPicPr>
                      <p:cNvPr id="0" name="图片 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44542" y="1035050"/>
                        <a:ext cx="5393055" cy="2348230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" name="直接箭头连接符 1"/>
          <p:cNvCxnSpPr/>
          <p:nvPr/>
        </p:nvCxnSpPr>
        <p:spPr>
          <a:xfrm flipH="1" flipV="1">
            <a:off x="784860" y="4918075"/>
            <a:ext cx="4316095" cy="50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28" name="对象 27"/>
          <p:cNvGraphicFramePr/>
          <p:nvPr/>
        </p:nvGraphicFramePr>
        <p:xfrm>
          <a:off x="1068388" y="4536123"/>
          <a:ext cx="3796665" cy="308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311400" imgH="241300" progId="Equation.KSEE3">
                  <p:embed/>
                </p:oleObj>
              </mc:Choice>
              <mc:Fallback>
                <p:oleObj r:id="rId7" imgW="2311400" imgH="241300" progId="Equation.KSEE3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68388" y="4536123"/>
                        <a:ext cx="3796665" cy="3086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/>
          <p:nvPr/>
        </p:nvGraphicFramePr>
        <p:xfrm>
          <a:off x="619761" y="5180966"/>
          <a:ext cx="3796665" cy="1446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2451100" imgH="1244600" progId="Equation.KSEE3">
                  <p:embed/>
                </p:oleObj>
              </mc:Choice>
              <mc:Fallback>
                <p:oleObj r:id="rId9" imgW="2451100" imgH="1244600" progId="Equation.KSEE3">
                  <p:embed/>
                  <p:pic>
                    <p:nvPicPr>
                      <p:cNvPr id="0" name="图片 2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19761" y="5180966"/>
                        <a:ext cx="3796665" cy="1446530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110990" y="-635"/>
            <a:ext cx="37903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更新</a:t>
            </a:r>
            <a:r>
              <a:rPr lang="en-US" altLang="zh-CN"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PA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364490" y="1109980"/>
            <a:ext cx="39243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①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5379720" y="964565"/>
            <a:ext cx="410845" cy="362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>
                <a:solidFill>
                  <a:srgbClr val="191B1F"/>
                </a:solidFill>
                <a:latin typeface="Times New Roman" panose="02020603050405020304" charset="0"/>
                <a:ea typeface="-apple-system"/>
                <a:cs typeface="Times New Roman" panose="02020603050405020304" charset="0"/>
                <a:sym typeface="+mn-ea"/>
              </a:rPr>
              <a:t>② 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761990" y="7424420"/>
            <a:ext cx="50634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不同方式得到的</a:t>
            </a:r>
            <a:r>
              <a:rPr lang="en-US" altLang="zh-CN"/>
              <a:t>CMI</a:t>
            </a:r>
            <a:r>
              <a:rPr lang="zh-CN" altLang="en-US"/>
              <a:t>该如何表达</a:t>
            </a:r>
          </a:p>
        </p:txBody>
      </p:sp>
      <p:graphicFrame>
        <p:nvGraphicFramePr>
          <p:cNvPr id="5" name="对象 4"/>
          <p:cNvGraphicFramePr/>
          <p:nvPr/>
        </p:nvGraphicFramePr>
        <p:xfrm>
          <a:off x="5824220" y="3547110"/>
          <a:ext cx="5495290" cy="2995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3759200" imgH="2590800" progId="Equation.KSEE3">
                  <p:embed/>
                </p:oleObj>
              </mc:Choice>
              <mc:Fallback>
                <p:oleObj r:id="rId11" imgW="3759200" imgH="2590800" progId="Equation.KSEE3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824220" y="3547110"/>
                        <a:ext cx="5495290" cy="2995295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0" name="直接箭头连接符 39"/>
          <p:cNvCxnSpPr/>
          <p:nvPr/>
        </p:nvCxnSpPr>
        <p:spPr>
          <a:xfrm flipH="1" flipV="1">
            <a:off x="2730500" y="3331845"/>
            <a:ext cx="2923540" cy="31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127000" y="2956560"/>
            <a:ext cx="47561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④ </a:t>
            </a:r>
          </a:p>
        </p:txBody>
      </p:sp>
      <p:graphicFrame>
        <p:nvGraphicFramePr>
          <p:cNvPr id="11" name="对象 10"/>
          <p:cNvGraphicFramePr/>
          <p:nvPr/>
        </p:nvGraphicFramePr>
        <p:xfrm>
          <a:off x="3043555" y="2868295"/>
          <a:ext cx="157226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927100" imgH="241300" progId="Equation.KSEE3">
                  <p:embed/>
                </p:oleObj>
              </mc:Choice>
              <mc:Fallback>
                <p:oleObj r:id="rId13" imgW="927100" imgH="241300" progId="Equation.KSEE3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43555" y="2868295"/>
                        <a:ext cx="1572260" cy="288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8" name="直接箭头连接符 17"/>
          <p:cNvCxnSpPr/>
          <p:nvPr/>
        </p:nvCxnSpPr>
        <p:spPr>
          <a:xfrm>
            <a:off x="2553335" y="4200525"/>
            <a:ext cx="306959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2657475" y="2858770"/>
            <a:ext cx="614680" cy="2946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>
                <a:solidFill>
                  <a:srgbClr val="191B1F"/>
                </a:solidFill>
                <a:latin typeface="Times New Roman" panose="02020603050405020304" charset="0"/>
                <a:ea typeface="-apple-system"/>
                <a:cs typeface="Times New Roman" panose="02020603050405020304" charset="0"/>
                <a:sym typeface="+mn-ea"/>
              </a:rPr>
              <a:t>③</a:t>
            </a:r>
          </a:p>
        </p:txBody>
      </p:sp>
      <p:graphicFrame>
        <p:nvGraphicFramePr>
          <p:cNvPr id="22" name="对象 21"/>
          <p:cNvGraphicFramePr/>
          <p:nvPr/>
        </p:nvGraphicFramePr>
        <p:xfrm>
          <a:off x="2834005" y="3823970"/>
          <a:ext cx="2369820" cy="356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1422400" imgH="279400" progId="Equation.KSEE3">
                  <p:embed/>
                </p:oleObj>
              </mc:Choice>
              <mc:Fallback>
                <p:oleObj r:id="rId15" imgW="1422400" imgH="279400" progId="Equation.KSEE3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834005" y="3823970"/>
                        <a:ext cx="2369820" cy="3562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/>
          <p:nvPr/>
        </p:nvGraphicFramePr>
        <p:xfrm>
          <a:off x="127000" y="3383280"/>
          <a:ext cx="2413000" cy="645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2019300" imgH="533400" progId="Equation.KSEE3">
                  <p:embed/>
                </p:oleObj>
              </mc:Choice>
              <mc:Fallback>
                <p:oleObj r:id="rId17" imgW="2019300" imgH="533400" progId="Equation.KSEE3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27000" y="3383280"/>
                        <a:ext cx="2413000" cy="645160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文本框 67"/>
          <p:cNvSpPr txBox="1"/>
          <p:nvPr/>
        </p:nvSpPr>
        <p:spPr>
          <a:xfrm>
            <a:off x="2506980" y="3870325"/>
            <a:ext cx="53657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⑤ 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1319510" y="1384300"/>
            <a:ext cx="8597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/>
              <a:t>与</a:t>
            </a:r>
            <a:r>
              <a:rPr lang="en-US" altLang="zh-CN" sz="1000"/>
              <a:t>pa</a:t>
            </a:r>
            <a:r>
              <a:rPr lang="zh-CN" altLang="en-US" sz="1000"/>
              <a:t>丢失的</a:t>
            </a:r>
            <a:r>
              <a:rPr lang="en-US" altLang="zh-CN" sz="1000">
                <a:solidFill>
                  <a:srgbClr val="191B1F"/>
                </a:solidFill>
                <a:latin typeface="Times New Roman" panose="02020603050405020304" charset="0"/>
                <a:ea typeface="-apple-system"/>
                <a:cs typeface="Times New Roman" panose="02020603050405020304" charset="0"/>
                <a:sym typeface="+mn-ea"/>
              </a:rPr>
              <a:t>②</a:t>
            </a:r>
            <a:r>
              <a:rPr lang="zh-CN" altLang="en-US" sz="1000"/>
              <a:t>过程一致</a:t>
            </a:r>
          </a:p>
          <a:p>
            <a:r>
              <a:rPr lang="zh-CN" altLang="en-US" sz="1000"/>
              <a:t>（新增了构建矩阵）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309245" y="2564765"/>
            <a:ext cx="229933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None/>
            </a:pPr>
            <a:r>
              <a:rPr lang="zh-CN" altLang="en-US" sz="1000">
                <a:sym typeface="+mn-ea"/>
              </a:rPr>
              <a:t>③④⑤与请求pa的③④⑤过程一致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5400675" y="3477895"/>
            <a:ext cx="44386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⑥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727075" y="4478020"/>
            <a:ext cx="341630" cy="3670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/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⑦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190500" y="5180965"/>
            <a:ext cx="34925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4" grpId="1"/>
      <p:bldP spid="65" grpId="0"/>
      <p:bldP spid="65" grpId="1"/>
      <p:bldP spid="54" grpId="0"/>
      <p:bldP spid="54" grpId="1"/>
      <p:bldP spid="19" grpId="0"/>
      <p:bldP spid="19" grpId="1"/>
      <p:bldP spid="68" grpId="0"/>
      <p:bldP spid="68" grpId="1"/>
      <p:bldP spid="56" grpId="0"/>
      <p:bldP spid="56" grpId="1"/>
      <p:bldP spid="57" grpId="0"/>
      <p:bldP spid="57" grpId="1"/>
      <p:bldP spid="24" grpId="0"/>
      <p:bldP spid="24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840105" y="440690"/>
            <a:ext cx="10242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</a:rPr>
              <a:t>user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9755505" y="440690"/>
            <a:ext cx="18034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b="1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AP</a:t>
            </a:r>
          </a:p>
        </p:txBody>
      </p:sp>
      <p:cxnSp>
        <p:nvCxnSpPr>
          <p:cNvPr id="44" name="直接连接符 43"/>
          <p:cNvCxnSpPr/>
          <p:nvPr/>
        </p:nvCxnSpPr>
        <p:spPr>
          <a:xfrm>
            <a:off x="403860" y="427990"/>
            <a:ext cx="1072451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443230" y="784860"/>
            <a:ext cx="1072451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9755505" y="7857490"/>
            <a:ext cx="2145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先验证</a:t>
            </a:r>
            <a:r>
              <a:rPr lang="en-US" altLang="zh-CN"/>
              <a:t>phc</a:t>
            </a:r>
            <a:r>
              <a:rPr lang="zh-CN" altLang="en-US"/>
              <a:t>和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650365" y="7719060"/>
            <a:ext cx="24606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cm</a:t>
            </a:r>
            <a:r>
              <a:rPr lang="zh-CN" altLang="en-US"/>
              <a:t>细化，向量，</a:t>
            </a:r>
            <a:r>
              <a:rPr lang="en-US" altLang="zh-CN"/>
              <a:t>3</a:t>
            </a:r>
            <a:r>
              <a:rPr lang="zh-CN" altLang="en-US"/>
              <a:t>是矩阵，</a:t>
            </a:r>
            <a:r>
              <a:rPr lang="en-US" altLang="zh-CN"/>
              <a:t>4</a:t>
            </a:r>
            <a:r>
              <a:rPr lang="zh-CN" altLang="en-US"/>
              <a:t>是一个向量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546860" y="7073900"/>
            <a:ext cx="37522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哈希模式设计，支撑构建</a:t>
            </a:r>
          </a:p>
          <a:p>
            <a:r>
              <a:rPr lang="zh-CN" altLang="en-US"/>
              <a:t>最后生成</a:t>
            </a:r>
            <a:r>
              <a:rPr lang="en-US" altLang="zh-CN"/>
              <a:t>PA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57150" y="751014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仅用户可以验证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5372100" y="7510145"/>
            <a:ext cx="312229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PHC</a:t>
            </a:r>
            <a:r>
              <a:rPr lang="zh-CN" altLang="en-US"/>
              <a:t>与</a:t>
            </a:r>
            <a:r>
              <a:rPr lang="en-US" altLang="zh-CN"/>
              <a:t>pa</a:t>
            </a:r>
            <a:r>
              <a:rPr lang="zh-CN" altLang="en-US"/>
              <a:t>丢了怎么恢复</a:t>
            </a:r>
          </a:p>
          <a:p>
            <a:r>
              <a:rPr lang="en-US" altLang="zh-CN"/>
              <a:t>phc</a:t>
            </a:r>
            <a:r>
              <a:rPr lang="zh-CN" altLang="en-US"/>
              <a:t>丢了</a:t>
            </a:r>
          </a:p>
          <a:p>
            <a:r>
              <a:rPr lang="en-US" altLang="zh-CN"/>
              <a:t>pa</a:t>
            </a:r>
            <a:r>
              <a:rPr lang="zh-CN" altLang="en-US"/>
              <a:t>丢了</a:t>
            </a:r>
          </a:p>
          <a:p>
            <a:r>
              <a:rPr lang="en-US" altLang="zh-CN"/>
              <a:t>pa</a:t>
            </a:r>
            <a:r>
              <a:rPr lang="zh-CN" altLang="en-US"/>
              <a:t>代码更新怎么办</a:t>
            </a:r>
          </a:p>
          <a:p>
            <a:r>
              <a:rPr lang="en-US" altLang="zh-CN"/>
              <a:t>phc</a:t>
            </a:r>
            <a:r>
              <a:rPr lang="zh-CN" altLang="en-US"/>
              <a:t>关联到</a:t>
            </a:r>
            <a:r>
              <a:rPr lang="en-US" altLang="zh-CN"/>
              <a:t>pa</a:t>
            </a:r>
            <a:r>
              <a:rPr lang="zh-CN" altLang="en-US"/>
              <a:t>中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5297805" y="440690"/>
            <a:ext cx="10242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</a:rPr>
              <a:t>TP</a:t>
            </a:r>
          </a:p>
        </p:txBody>
      </p:sp>
      <p:cxnSp>
        <p:nvCxnSpPr>
          <p:cNvPr id="33" name="直接箭头连接符 32"/>
          <p:cNvCxnSpPr/>
          <p:nvPr/>
        </p:nvCxnSpPr>
        <p:spPr>
          <a:xfrm flipV="1">
            <a:off x="581025" y="1414780"/>
            <a:ext cx="4345940" cy="165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38" name="对象 37"/>
          <p:cNvGraphicFramePr/>
          <p:nvPr/>
        </p:nvGraphicFramePr>
        <p:xfrm>
          <a:off x="925195" y="992505"/>
          <a:ext cx="3964940" cy="370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438400" imgH="254000" progId="Equation.KSEE3">
                  <p:embed/>
                </p:oleObj>
              </mc:Choice>
              <mc:Fallback>
                <p:oleObj r:id="rId3" imgW="2438400" imgH="254000" progId="Equation.KSEE3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25195" y="992505"/>
                        <a:ext cx="3964940" cy="3702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7" name="直接箭头连接符 46"/>
          <p:cNvCxnSpPr/>
          <p:nvPr/>
        </p:nvCxnSpPr>
        <p:spPr>
          <a:xfrm flipH="1">
            <a:off x="2049145" y="4801870"/>
            <a:ext cx="358394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 flipV="1">
            <a:off x="3699510" y="8176260"/>
            <a:ext cx="4220210" cy="12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/>
        </p:nvSpPr>
        <p:spPr>
          <a:xfrm>
            <a:off x="3788410" y="9525"/>
            <a:ext cx="37903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PHC</a:t>
            </a:r>
            <a:r>
              <a:rPr lang="zh-CN" altLang="en-US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与</a:t>
            </a:r>
            <a:r>
              <a:rPr lang="en-US" altLang="zh-CN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PA</a:t>
            </a:r>
            <a:r>
              <a:rPr lang="zh-CN" altLang="en-US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都丢失</a:t>
            </a:r>
            <a:endParaRPr lang="en-US" altLang="zh-CN" sz="24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250190" y="1016000"/>
            <a:ext cx="39243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①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5234305" y="815340"/>
            <a:ext cx="410845" cy="362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>
                <a:solidFill>
                  <a:srgbClr val="191B1F"/>
                </a:solidFill>
                <a:latin typeface="Times New Roman" panose="02020603050405020304" charset="0"/>
                <a:ea typeface="-apple-system"/>
                <a:cs typeface="Times New Roman" panose="02020603050405020304" charset="0"/>
                <a:sym typeface="+mn-ea"/>
              </a:rPr>
              <a:t>② 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2720340" y="2665730"/>
            <a:ext cx="614680" cy="2946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>
                <a:solidFill>
                  <a:srgbClr val="191B1F"/>
                </a:solidFill>
                <a:latin typeface="Times New Roman" panose="02020603050405020304" charset="0"/>
                <a:ea typeface="-apple-system"/>
                <a:cs typeface="Times New Roman" panose="02020603050405020304" charset="0"/>
                <a:sym typeface="+mn-ea"/>
              </a:rPr>
              <a:t>③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57150" y="2731135"/>
            <a:ext cx="47561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④ </a:t>
            </a:r>
          </a:p>
        </p:txBody>
      </p:sp>
      <p:sp>
        <p:nvSpPr>
          <p:cNvPr id="68" name="文本框 67"/>
          <p:cNvSpPr txBox="1"/>
          <p:nvPr/>
        </p:nvSpPr>
        <p:spPr>
          <a:xfrm>
            <a:off x="2345690" y="3536950"/>
            <a:ext cx="53657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⑤ 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5691505" y="3783330"/>
            <a:ext cx="44386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⑥</a:t>
            </a:r>
          </a:p>
        </p:txBody>
      </p:sp>
      <p:sp>
        <p:nvSpPr>
          <p:cNvPr id="70" name="文本框 69"/>
          <p:cNvSpPr txBox="1"/>
          <p:nvPr/>
        </p:nvSpPr>
        <p:spPr>
          <a:xfrm>
            <a:off x="1707515" y="4436745"/>
            <a:ext cx="341630" cy="3670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/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⑦</a:t>
            </a:r>
          </a:p>
        </p:txBody>
      </p:sp>
      <p:sp>
        <p:nvSpPr>
          <p:cNvPr id="71" name="文本框 70"/>
          <p:cNvSpPr txBox="1"/>
          <p:nvPr/>
        </p:nvSpPr>
        <p:spPr>
          <a:xfrm>
            <a:off x="3119755" y="9597390"/>
            <a:ext cx="33845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⑧</a:t>
            </a:r>
          </a:p>
        </p:txBody>
      </p:sp>
      <p:cxnSp>
        <p:nvCxnSpPr>
          <p:cNvPr id="72" name="直接箭头连接符 71"/>
          <p:cNvCxnSpPr/>
          <p:nvPr/>
        </p:nvCxnSpPr>
        <p:spPr>
          <a:xfrm flipH="1" flipV="1">
            <a:off x="3576955" y="9899650"/>
            <a:ext cx="3760470" cy="31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882265" y="8439150"/>
            <a:ext cx="45275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⑨</a:t>
            </a:r>
          </a:p>
        </p:txBody>
      </p:sp>
      <p:graphicFrame>
        <p:nvGraphicFramePr>
          <p:cNvPr id="4" name="对象 3"/>
          <p:cNvGraphicFramePr/>
          <p:nvPr/>
        </p:nvGraphicFramePr>
        <p:xfrm>
          <a:off x="5689600" y="956628"/>
          <a:ext cx="5478145" cy="2136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717800" imgH="1714500" progId="Equation.KSEE3">
                  <p:embed/>
                </p:oleObj>
              </mc:Choice>
              <mc:Fallback>
                <p:oleObj r:id="rId5" imgW="2717800" imgH="1714500" progId="Equation.KSEE3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89600" y="956628"/>
                        <a:ext cx="5478145" cy="2136140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/>
          <p:nvPr/>
        </p:nvGraphicFramePr>
        <p:xfrm>
          <a:off x="3659823" y="2683511"/>
          <a:ext cx="1363345" cy="35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838200" imgH="241300" progId="Equation.KSEE3">
                  <p:embed/>
                </p:oleObj>
              </mc:Choice>
              <mc:Fallback>
                <p:oleObj r:id="rId7" imgW="838200" imgH="241300" progId="Equation.KSEE3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59823" y="2683511"/>
                        <a:ext cx="1363345" cy="3505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/>
          <p:nvPr/>
        </p:nvGraphicFramePr>
        <p:xfrm>
          <a:off x="173990" y="3056890"/>
          <a:ext cx="2171700" cy="870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409700" imgH="736600" progId="Equation.KSEE3">
                  <p:embed/>
                </p:oleObj>
              </mc:Choice>
              <mc:Fallback>
                <p:oleObj r:id="rId9" imgW="1409700" imgH="736600" progId="Equation.KSEE3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3990" y="3056890"/>
                        <a:ext cx="2171700" cy="870585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直接箭头连接符 13"/>
          <p:cNvCxnSpPr/>
          <p:nvPr/>
        </p:nvCxnSpPr>
        <p:spPr>
          <a:xfrm flipV="1">
            <a:off x="2451735" y="3926840"/>
            <a:ext cx="3197860" cy="6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17" name="对象 16"/>
          <p:cNvGraphicFramePr/>
          <p:nvPr/>
        </p:nvGraphicFramePr>
        <p:xfrm>
          <a:off x="2653348" y="3571875"/>
          <a:ext cx="3263265" cy="311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005965" imgH="254000" progId="Equation.KSEE3">
                  <p:embed/>
                </p:oleObj>
              </mc:Choice>
              <mc:Fallback>
                <p:oleObj r:id="rId11" imgW="2005965" imgH="254000" progId="Equation.KSEE3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653348" y="3571875"/>
                        <a:ext cx="3263265" cy="3117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/>
          <p:nvPr/>
        </p:nvGraphicFramePr>
        <p:xfrm>
          <a:off x="5962017" y="3713163"/>
          <a:ext cx="6199505" cy="294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3822700" imgH="2590800" progId="Equation.KSEE3">
                  <p:embed/>
                </p:oleObj>
              </mc:Choice>
              <mc:Fallback>
                <p:oleObj r:id="rId13" imgW="3822700" imgH="2590800" progId="Equation.KSEE3">
                  <p:embed/>
                  <p:pic>
                    <p:nvPicPr>
                      <p:cNvPr id="0" name="图片 2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962017" y="3713163"/>
                        <a:ext cx="6199505" cy="2943225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" name="直接箭头连接符 22"/>
          <p:cNvCxnSpPr/>
          <p:nvPr/>
        </p:nvCxnSpPr>
        <p:spPr>
          <a:xfrm flipH="1">
            <a:off x="2355850" y="3171825"/>
            <a:ext cx="2878455" cy="12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25" name="对象 24"/>
          <p:cNvGraphicFramePr/>
          <p:nvPr/>
        </p:nvGraphicFramePr>
        <p:xfrm>
          <a:off x="-317" y="4982212"/>
          <a:ext cx="5313680" cy="1772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3429000" imgH="1524000" progId="Equation.KSEE3">
                  <p:embed/>
                </p:oleObj>
              </mc:Choice>
              <mc:Fallback>
                <p:oleObj r:id="rId15" imgW="3429000" imgH="1524000" progId="Equation.KSEE3">
                  <p:embed/>
                  <p:pic>
                    <p:nvPicPr>
                      <p:cNvPr id="0" name="图片 2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-317" y="4982212"/>
                        <a:ext cx="5313680" cy="1772920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/>
          <p:nvPr/>
        </p:nvGraphicFramePr>
        <p:xfrm>
          <a:off x="2090420" y="4420553"/>
          <a:ext cx="3713480" cy="308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2260600" imgH="241300" progId="Equation.KSEE3">
                  <p:embed/>
                </p:oleObj>
              </mc:Choice>
              <mc:Fallback>
                <p:oleObj r:id="rId17" imgW="2260600" imgH="241300" progId="Equation.KSEE3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090420" y="4420553"/>
                        <a:ext cx="3713480" cy="3086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93980" y="4692650"/>
            <a:ext cx="34925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4" grpId="1"/>
      <p:bldP spid="65" grpId="0"/>
      <p:bldP spid="65" grpId="1"/>
      <p:bldP spid="66" grpId="0"/>
      <p:bldP spid="66" grpId="1"/>
      <p:bldP spid="67" grpId="0"/>
      <p:bldP spid="67" grpId="1"/>
      <p:bldP spid="68" grpId="0"/>
      <p:bldP spid="68" grpId="1"/>
      <p:bldP spid="69" grpId="0"/>
      <p:bldP spid="69" grpId="1"/>
      <p:bldP spid="70" grpId="0"/>
      <p:bldP spid="70" grpId="1"/>
      <p:bldP spid="71" grpId="0"/>
      <p:bldP spid="71" grpId="1"/>
      <p:bldP spid="2" grpId="0"/>
      <p:bldP spid="2" grpId="1"/>
      <p:bldP spid="3" grpId="0"/>
      <p:bldP spid="3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"/>
            <a:ext cx="1598613" cy="57150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644650" y="1"/>
            <a:ext cx="358775" cy="5715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38350" y="-50800"/>
            <a:ext cx="234950" cy="61153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-49213" y="571501"/>
            <a:ext cx="12290425" cy="0"/>
          </a:xfrm>
          <a:prstGeom prst="line">
            <a:avLst/>
          </a:prstGeom>
          <a:ln w="38100" cmpd="sng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2461260" y="60325"/>
            <a:ext cx="93332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TP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user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进行身份揭露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006725" y="831215"/>
            <a:ext cx="10242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</a:rPr>
              <a:t>TP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803640" y="831215"/>
            <a:ext cx="18034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b="1">
                <a:solidFill>
                  <a:srgbClr val="3D41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IPFS</a:t>
            </a: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7090410" y="7291705"/>
            <a:ext cx="3696335" cy="88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21" name="对象 20"/>
          <p:cNvGraphicFramePr/>
          <p:nvPr/>
        </p:nvGraphicFramePr>
        <p:xfrm>
          <a:off x="6530340" y="7146925"/>
          <a:ext cx="2273300" cy="184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447800" imgH="228600" progId="Equation.KSEE3">
                  <p:embed/>
                </p:oleObj>
              </mc:Choice>
              <mc:Fallback>
                <p:oleObj r:id="rId3" imgW="1447800" imgH="228600" progId="Equation.KSEE3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30340" y="7146925"/>
                        <a:ext cx="2273300" cy="1847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4" name="直接箭头连接符 23"/>
          <p:cNvCxnSpPr/>
          <p:nvPr/>
        </p:nvCxnSpPr>
        <p:spPr>
          <a:xfrm>
            <a:off x="3415665" y="3422650"/>
            <a:ext cx="580072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34" name="对象 33"/>
          <p:cNvGraphicFramePr/>
          <p:nvPr/>
        </p:nvGraphicFramePr>
        <p:xfrm>
          <a:off x="4798695" y="7442200"/>
          <a:ext cx="1879600" cy="19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047750" imgH="223520" progId="Equation.KSEE3">
                  <p:embed/>
                </p:oleObj>
              </mc:Choice>
              <mc:Fallback>
                <p:oleObj r:id="rId5" imgW="1047750" imgH="223520" progId="Equation.KSEE3">
                  <p:embed/>
                  <p:pic>
                    <p:nvPicPr>
                      <p:cNvPr id="0" name="图片 3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98695" y="7442200"/>
                        <a:ext cx="1879600" cy="196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0" name="直接箭头连接符 39"/>
          <p:cNvCxnSpPr/>
          <p:nvPr/>
        </p:nvCxnSpPr>
        <p:spPr>
          <a:xfrm flipH="1">
            <a:off x="3423920" y="3843655"/>
            <a:ext cx="5746115" cy="57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1064260" y="738505"/>
            <a:ext cx="1072451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1103630" y="1261110"/>
            <a:ext cx="1072451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964565" y="1411605"/>
            <a:ext cx="39243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①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5147310" y="3680460"/>
            <a:ext cx="57658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 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964565" y="4120515"/>
            <a:ext cx="47561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④ </a:t>
            </a:r>
          </a:p>
        </p:txBody>
      </p:sp>
      <p:graphicFrame>
        <p:nvGraphicFramePr>
          <p:cNvPr id="3" name="对象 2"/>
          <p:cNvGraphicFramePr/>
          <p:nvPr/>
        </p:nvGraphicFramePr>
        <p:xfrm>
          <a:off x="3434080" y="7193915"/>
          <a:ext cx="1753235" cy="1372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117600" imgH="660400" progId="Equation.KSEE3">
                  <p:embed/>
                </p:oleObj>
              </mc:Choice>
              <mc:Fallback>
                <p:oleObj r:id="rId7" imgW="1117600" imgH="660400" progId="Equation.KSEE3">
                  <p:embed/>
                  <p:pic>
                    <p:nvPicPr>
                      <p:cNvPr id="0" name="图片 2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34080" y="7193915"/>
                        <a:ext cx="1753235" cy="1372235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/>
          <p:nvPr/>
        </p:nvGraphicFramePr>
        <p:xfrm>
          <a:off x="1274128" y="4542473"/>
          <a:ext cx="4566920" cy="165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2273300" imgH="1117600" progId="Equation.KSEE3">
                  <p:embed/>
                </p:oleObj>
              </mc:Choice>
              <mc:Fallback>
                <p:oleObj r:id="rId9" imgW="2273300" imgH="1117600" progId="Equation.KSEE3">
                  <p:embed/>
                  <p:pic>
                    <p:nvPicPr>
                      <p:cNvPr id="0" name="图片 2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74128" y="4542473"/>
                        <a:ext cx="4566920" cy="1656080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/>
          <p:nvPr/>
        </p:nvGraphicFramePr>
        <p:xfrm>
          <a:off x="1334770" y="1478598"/>
          <a:ext cx="4716145" cy="1521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691765" imgH="1117600" progId="Equation.KSEE3">
                  <p:embed/>
                </p:oleObj>
              </mc:Choice>
              <mc:Fallback>
                <p:oleObj r:id="rId11" imgW="2691765" imgH="1117600" progId="Equation.KSEE3">
                  <p:embed/>
                  <p:pic>
                    <p:nvPicPr>
                      <p:cNvPr id="0" name="图片 2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34770" y="1478598"/>
                        <a:ext cx="4716145" cy="1521460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30"/>
          <p:cNvSpPr txBox="1"/>
          <p:nvPr/>
        </p:nvSpPr>
        <p:spPr>
          <a:xfrm>
            <a:off x="5723890" y="3072130"/>
            <a:ext cx="19253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191B1F"/>
                </a:solidFill>
                <a:latin typeface="Times New Roman" panose="02020603050405020304" charset="0"/>
                <a:ea typeface="-apple-system"/>
                <a:cs typeface="Times New Roman" panose="02020603050405020304" charset="0"/>
                <a:sym typeface="+mn-ea"/>
              </a:rPr>
              <a:t>② 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Send CID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5621655" y="3505835"/>
            <a:ext cx="4709795" cy="4305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>
                <a:solidFill>
                  <a:srgbClr val="191B1F"/>
                </a:solidFill>
                <a:latin typeface="Times New Roman" panose="02020603050405020304" charset="0"/>
                <a:ea typeface="-apple-system"/>
                <a:cs typeface="Times New Roman" panose="02020603050405020304" charset="0"/>
                <a:sym typeface="+mn-ea"/>
              </a:rPr>
              <a:t>③ 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Return  Secinfo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3" grpId="1"/>
      <p:bldP spid="54" grpId="0"/>
      <p:bldP spid="54" grpId="1"/>
      <p:bldP spid="31" grpId="0"/>
      <p:bldP spid="31" grpId="1"/>
      <p:bldP spid="36" grpId="0"/>
      <p:bldP spid="36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.65,&quot;left&quot;:15.7,&quot;top&quot;:80.6,&quot;width&quot;:595.6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.65,&quot;left&quot;:15.7,&quot;top&quot;:80.6,&quot;width&quot;:595.6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.65,&quot;left&quot;:15.7,&quot;top&quot;:80.6,&quot;width&quot;:595.6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.65,&quot;left&quot;:15.7,&quot;top&quot;:80.6,&quot;width&quot;:595.6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.65,&quot;left&quot;:15.7,&quot;top&quot;:80.6,&quot;width&quot;:595.6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.65,&quot;left&quot;:15.7,&quot;top&quot;:80.6,&quot;width&quot;:595.6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.65,&quot;left&quot;:15.7,&quot;top&quot;:80.6,&quot;width&quot;:595.6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.65,&quot;left&quot;:15.7,&quot;top&quot;:80.6,&quot;width&quot;:595.6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.65,&quot;left&quot;:15.7,&quot;top&quot;:80.6,&quot;width&quot;:595.6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.65,&quot;left&quot;:15.7,&quot;top&quot;:80.6,&quot;width&quot;:595.6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.65,&quot;left&quot;:15.7,&quot;top&quot;:80.6,&quot;width&quot;:595.6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.65,&quot;left&quot;:15.7,&quot;top&quot;:80.6,&quot;width&quot;:595.6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.65,&quot;left&quot;:15.7,&quot;top&quot;:80.6,&quot;width&quot;:595.6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.65,&quot;left&quot;:15.7,&quot;top&quot;:80.6,&quot;width&quot;:595.6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.65,&quot;left&quot;:15.7,&quot;top&quot;:80.6,&quot;width&quot;:595.6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.65,&quot;left&quot;:15.7,&quot;top&quot;:80.6,&quot;width&quot;:595.6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.65,&quot;left&quot;:15.7,&quot;top&quot;:80.6,&quot;width&quot;:595.6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.65,&quot;left&quot;:15.7,&quot;top&quot;:80.6,&quot;width&quot;:595.6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.65,&quot;left&quot;:15.7,&quot;top&quot;:80.6,&quot;width&quot;:595.6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.65,&quot;left&quot;:15.7,&quot;top&quot;:80.6,&quot;width&quot;:595.6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.65,&quot;left&quot;:15.7,&quot;top&quot;:80.6,&quot;width&quot;:595.6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.65,&quot;left&quot;:15.7,&quot;top&quot;:80.6,&quot;width&quot;:595.6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.65,&quot;left&quot;:15.7,&quot;top&quot;:80.6,&quot;width&quot;:595.6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.65,&quot;left&quot;:15.7,&quot;top&quot;:80.6,&quot;width&quot;:595.6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.65,&quot;left&quot;:15.7,&quot;top&quot;:80.6,&quot;width&quot;:595.6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.65,&quot;left&quot;:15.7,&quot;top&quot;:80.6,&quot;width&quot;:595.6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.65,&quot;left&quot;:15.7,&quot;top&quot;:80.6,&quot;width&quot;:595.6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.65,&quot;left&quot;:15.7,&quot;top&quot;:80.6,&quot;width&quot;:595.6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.65,&quot;left&quot;:15.7,&quot;top&quot;:80.6,&quot;width&quot;:595.6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.65,&quot;left&quot;:15.7,&quot;top&quot;:80.6,&quot;width&quot;:595.6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.65,&quot;left&quot;:15.7,&quot;top&quot;:80.6,&quot;width&quot;:595.6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.65,&quot;left&quot;:15.7,&quot;top&quot;:80.6,&quot;width&quot;:595.6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.65,&quot;left&quot;:15.7,&quot;top&quot;:80.6,&quot;width&quot;:595.6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2515</Words>
  <Application>Microsoft Office PowerPoint</Application>
  <PresentationFormat>宽屏</PresentationFormat>
  <Paragraphs>262</Paragraphs>
  <Slides>15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-apple-system</vt:lpstr>
      <vt:lpstr>黑体</vt:lpstr>
      <vt:lpstr>微软雅黑</vt:lpstr>
      <vt:lpstr>Arial</vt:lpstr>
      <vt:lpstr>Calibri</vt:lpstr>
      <vt:lpstr>Times New Roman</vt:lpstr>
      <vt:lpstr>Wingdings</vt:lpstr>
      <vt:lpstr>WPS</vt:lpstr>
      <vt:lpstr>WPS 公式 3.0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Lenovo</dc:creator>
  <cp:lastModifiedBy>昱迩 孔</cp:lastModifiedBy>
  <cp:revision>226</cp:revision>
  <dcterms:created xsi:type="dcterms:W3CDTF">2019-06-19T02:08:00Z</dcterms:created>
  <dcterms:modified xsi:type="dcterms:W3CDTF">2025-11-16T05:35:57Z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0AB5DBC09695415AB8C07B9DE6DF05AF_13</vt:lpwstr>
  </property>
</Properties>
</file>